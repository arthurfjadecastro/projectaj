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2F350E-E442-4980-BDB9-09E58EFBE9F9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4C8AF2-9012-4A99-BA1B-B1C13BB431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5234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Tempo: 1 min.</a:t>
            </a:r>
          </a:p>
          <a:p>
            <a:r>
              <a:rPr lang="pt-BR"/>
              <a:t>Agradeça a vinda. Diga que hoje a ideia é conversar sobre a rotina dele, não vender um sistema.</a:t>
            </a:r>
          </a:p>
          <a:p>
            <a:r>
              <a:rPr lang="pt-BR"/>
              <a:t>Deixe a pergunta do título no ar por alguns segundos antes de avançar.</a:t>
            </a:r>
          </a:p>
          <a:p>
            <a:r>
              <a:rPr lang="pt-BR"/>
              <a:t>Antes da reunião: troque [nome da barbearia] e o contato do último slide.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C8AF2-9012-4A99-BA1B-B1C13BB43142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75190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Tempo: 2 min.</a:t>
            </a:r>
          </a:p>
          <a:p>
            <a:r>
              <a:rPr lang="pt-BR"/>
              <a:t>Seja transparente: é o primeiro piloto do método, por isso o diagnóstico é gratuito.</a:t>
            </a:r>
          </a:p>
          <a:p>
            <a:r>
              <a:rPr lang="pt-BR"/>
              <a:t>Troca justa: você oferece atenção e método; pede tempo e franqueza.</a:t>
            </a:r>
          </a:p>
          <a:p>
            <a:r>
              <a:rPr lang="pt-BR"/>
              <a:t>Não prometa resultado nem prazo.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C8AF2-9012-4A99-BA1B-B1C13BB43142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1624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Tempo: 5 min. É o momento mais importante: ouvir.</a:t>
            </a:r>
          </a:p>
          <a:p>
            <a:r>
              <a:rPr lang="pt-BR"/>
              <a:t>Pergunte: "Alguma dessas acontece aí? Qual mais?" e depois "Me conta a última vez que aconteceu."</a:t>
            </a:r>
          </a:p>
          <a:p>
            <a:r>
              <a:rPr lang="pt-BR"/>
              <a:t>Anote na folha da reunião (roteiro-reuniao.md, bloco A): processo, consequência e um caso concreto.</a:t>
            </a:r>
          </a:p>
          <a:p>
            <a:r>
              <a:rPr lang="pt-BR"/>
              <a:t>Registre como relato dele. Não corrija, não confirme e não sugira solução ainda.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C8AF2-9012-4A99-BA1B-B1C13BB43142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427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Tempo: 3 min. Conte como uma história, não como produto.</a:t>
            </a:r>
          </a:p>
          <a:p>
            <a:r>
              <a:rPr lang="pt-BR"/>
              <a:t>Reforce que é um exemplo ilustrativo, não a solução decidida.</a:t>
            </a:r>
          </a:p>
          <a:p>
            <a:r>
              <a:rPr lang="pt-BR"/>
              <a:t>Pergunte: "Isso faria diferença no seu dia? Em qual parte?"</a:t>
            </a:r>
          </a:p>
          <a:p>
            <a:r>
              <a:rPr lang="pt-BR"/>
              <a:t>Se ele disser que não, ótimo: anote o que ele considera importante (bloco A).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C8AF2-9012-4A99-BA1B-B1C13BB43142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1621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Tempo: 2 min.</a:t>
            </a:r>
          </a:p>
          <a:p>
            <a:r>
              <a:rPr lang="pt-BR"/>
              <a:t>Ligue às respostas do slide 3: "Pelo que você me contou, o que mais pesa parece ser... mas quero conferir."</a:t>
            </a:r>
          </a:p>
          <a:p>
            <a:r>
              <a:rPr lang="pt-BR"/>
              <a:t>É aqui que se justifica começar pelo diagnóstico e não por um sistema.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C8AF2-9012-4A99-BA1B-B1C13BB43142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21575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Tempo: 2 min.</a:t>
            </a:r>
          </a:p>
          <a:p>
            <a:r>
              <a:rPr lang="pt-BR"/>
              <a:t>Deixe claro o esforço dele: a conversa de hoje e um acompanhamento curto combinado.</a:t>
            </a:r>
          </a:p>
          <a:p>
            <a:r>
              <a:rPr lang="pt-BR"/>
              <a:t>Não fixe datas aqui. Pergunte quais dias e horários são mais tranquilos (bloco B).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C8AF2-9012-4A99-BA1B-B1C13BB43142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76501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Tempo: 2 min.</a:t>
            </a:r>
          </a:p>
          <a:p>
            <a:r>
              <a:rPr lang="pt-BR"/>
              <a:t>Destaque que a recomendação pode ser simples e sem IA. Isso gera confiança.</a:t>
            </a:r>
          </a:p>
          <a:p>
            <a:r>
              <a:rPr lang="pt-BR"/>
              <a:t>O diagnóstico é dele, mesmo que não siga para a implantação.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C8AF2-9012-4A99-BA1B-B1C13BB43142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65804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Tempo: 2 min.</a:t>
            </a:r>
          </a:p>
          <a:p>
            <a:r>
              <a:rPr lang="pt-BR"/>
              <a:t>Pergunte se há algum dado ou assunto que ele prefere não compartilhar. Anote as restrições (bloco B).</a:t>
            </a:r>
          </a:p>
          <a:p>
            <a:r>
              <a:rPr lang="pt-BR"/>
              <a:t>Não peça acesso a nada nesta reunião além das respostas dele.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C8AF2-9012-4A99-BA1B-B1C13BB43142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72781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Tempo: 6 min. Se ele topou, faça as perguntas agora e anote na folha (roteiro-reuniao.md, bloco C).</a:t>
            </a:r>
          </a:p>
          <a:p>
            <a:r>
              <a:rPr lang="pt-BR"/>
              <a:t>Comece por um caso recente e só depois pergunte "e normalmente?".</a:t>
            </a:r>
          </a:p>
          <a:p>
            <a:r>
              <a:rPr lang="pt-BR"/>
              <a:t>Pergunte onde daria para conferir (agenda, caderno, WhatsApp), sem copiar nada.</a:t>
            </a:r>
          </a:p>
          <a:p>
            <a:r>
              <a:rPr lang="pt-BR"/>
              <a:t>Ordem dos slides: 01 esquerda, 02 direita, e assim por diante.</a:t>
            </a:r>
          </a:p>
          <a:p>
            <a:r>
              <a:rPr lang="pt-BR"/>
              <a:t>Destino na ficha: 01 -&gt; F4/F6; 02 -&gt; F2/F6; 03 -&gt; F3; 04 -&gt; F9; 05 -&gt; F5/F7; 06 -&gt; F8.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C8AF2-9012-4A99-BA1B-B1C13BB43142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87411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Tempo: 2 min.</a:t>
            </a:r>
          </a:p>
          <a:p>
            <a:r>
              <a:rPr lang="pt-BR"/>
              <a:t>Pergunte o que ele consideraria um bom resultado. Anote como proposta dele (bloco C, pergunta 06), não como meta acordada.</a:t>
            </a:r>
          </a:p>
          <a:p>
            <a:r>
              <a:rPr lang="pt-BR"/>
              <a:t>Os exemplos são candidatos: a medida principal só é escolhida depois do diagnóstico.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C8AF2-9012-4A99-BA1B-B1C13BB43142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26063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Tempo: 1 min.</a:t>
            </a:r>
          </a:p>
          <a:p>
            <a:r>
              <a:rPr lang="pt-BR"/>
              <a:t>Leia os compromissos e pergunte se falta algum cuidado importante para ele. Anote (bloco B).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C8AF2-9012-4A99-BA1B-B1C13BB43142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1877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Tempo: 1 min.</a:t>
            </a:r>
          </a:p>
          <a:p>
            <a:r>
              <a:rPr lang="pt-BR"/>
              <a:t>Reforce: sem custo e sem compromisso.</a:t>
            </a:r>
          </a:p>
          <a:p>
            <a:r>
              <a:rPr lang="pt-BR"/>
              <a:t>Não fale de preço de implantação: isso só vem depois do diagnóstico (DEC-010).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C8AF2-9012-4A99-BA1B-B1C13BB43142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70735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Tempo: 1 min. Faça o pedido direto: "Topa?"</a:t>
            </a:r>
          </a:p>
          <a:p>
            <a:r>
              <a:rPr lang="pt-BR"/>
              <a:t>Se sim: combine o dia do acompanhamento e registre o aceite no bloco D (data, o que foi autorizado, restrições).</a:t>
            </a:r>
          </a:p>
          <a:p>
            <a:r>
              <a:rPr lang="pt-BR"/>
              <a:t>Se não: agradeça e pergunte o que faria ele topar. Anote.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C8AF2-9012-4A99-BA1B-B1C13BB43142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5244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FEEB56-FFC5-1CCF-41E2-D78055EC33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382E741-028F-87E0-30BD-48F1F470ED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CA898B-FC68-FED0-3D47-93D6E921A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2BBB-7035-4A22-AA2F-936744790C63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6D1498-5849-3317-5B64-8E94FBEC8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27D55D-A6A1-0360-55B6-7CF7392C8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0A43E-880A-41BE-8D0C-8CDD8A7591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8340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90C6C7-4FC4-A126-5060-66885941B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1E1532-3902-341D-1D36-7BF81728B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55AE0D-F925-F61A-8D83-85DE0DC57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2BBB-7035-4A22-AA2F-936744790C63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036D17-BA00-BCFA-168E-D07E40A2F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37F5D0-1697-57FD-8C63-A620BA032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0A43E-880A-41BE-8D0C-8CDD8A7591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361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25B27B-A8DF-E403-F7D3-10E2118F9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F290B6F-1570-2E1D-18E5-23E95CF91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CC39DF-3E55-1F25-15D4-983809D61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2BBB-7035-4A22-AA2F-936744790C63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C0037B1-F8E9-6FA1-2C2A-0C25E78C4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F6D048-FE6C-F85A-331F-598B88E09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0A43E-880A-41BE-8D0C-8CDD8A7591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8496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9D0C22-236F-7D95-E3B7-5C42BB034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E9C0D8-BC11-E5E4-DC79-F9E6FD2B0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8AAC11-A850-EC32-8AE6-C958B27F9A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1EB2148-5385-A61C-925B-9D05BB07C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2BBB-7035-4A22-AA2F-936744790C63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4D26F8B-ADF4-30B2-080F-3B62BA24E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87AB7DD-8D8A-E245-D584-A616153C0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0A43E-880A-41BE-8D0C-8CDD8A7591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1301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5E2FA8-FAD6-3542-E2F8-85638A41F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8EE4B1-0792-D9CB-310F-67A3724AC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360CF79-86B4-D623-E161-A0CB369B3C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C29EBCE-F2F1-3007-B8EF-0B9A2390A8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FD1DB97-34A7-DA89-1EBA-9245BC2E99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E5C2ECD-C6F7-577B-DB6E-469F69B93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2BBB-7035-4A22-AA2F-936744790C63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DAE0082-D90D-5527-C36A-7AF7B3C3C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3DA3B99-F835-561B-BD03-0ADCE65D0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0A43E-880A-41BE-8D0C-8CDD8A7591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5274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E4C7C8-5B49-1BF7-69FB-DC22E92C2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6279444-E306-9F8E-09E9-BFACED4E8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2BBB-7035-4A22-AA2F-936744790C63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BB7CA7-ECFD-9F1B-E3AB-E1BA3C414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B1186B4-B94D-FDAA-F77E-CF7975980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0A43E-880A-41BE-8D0C-8CDD8A7591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411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0F1B8AE-5C67-127C-F433-6EAF8B8B7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2BBB-7035-4A22-AA2F-936744790C63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4CB788A-D3AD-B98C-9A2C-12DD274E0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6D6EF4A-EFB6-3716-B122-B5BA6E5C3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0A43E-880A-41BE-8D0C-8CDD8A7591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9284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B356DE-934E-980A-1561-D61A7F552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D3DD0A-599B-7498-08BA-65547E9FC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D27814B-6623-4AD9-7930-797036A966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A8E14D2-15EA-290F-A49A-D027E2475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2BBB-7035-4A22-AA2F-936744790C63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C229639-188E-D1B8-6354-F17516C7D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943DD4B-DDAF-9B23-2BF1-2B9BE0CB7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0A43E-880A-41BE-8D0C-8CDD8A7591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4286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92761A-6DEC-29AC-4E61-73AF664C8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B601551-E396-52DA-0245-4186A8339A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4B17695-AD21-08D0-DF3F-EDA70A1A87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5FF7B1-4235-AB2C-1FFF-1857846FB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2BBB-7035-4A22-AA2F-936744790C63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6821467-FC84-57E3-FB78-A7CCFE3B1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A74F0AC-5438-BE11-8E5A-FF2CF12B8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0A43E-880A-41BE-8D0C-8CDD8A7591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453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FE80C2-19B5-2432-7428-9862757E3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B93CB06-D084-C1E6-628F-17B69B2C49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09662E-F8BA-33E5-960D-240ADE889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2BBB-7035-4A22-AA2F-936744790C63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8F22F4-8F1A-CDE0-A075-7FF8878AE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30ECB6-B857-8275-6A2B-792D4191B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0A43E-880A-41BE-8D0C-8CDD8A7591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6282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4A866D-DA51-8540-0D7C-A6FA7B7CD0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2DD5F3B-AD84-7AFB-2F4A-8D1D8AEB0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70FBE5-5E7C-535B-749A-3BC732D23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2BBB-7035-4A22-AA2F-936744790C63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3C0517-506B-4C87-E966-AB85079BB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5CF638-79A5-E797-2D0E-978FAC663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0A43E-880A-41BE-8D0C-8CDD8A7591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8517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43CE174-F50F-C6A8-22AE-616DB7D7A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2E7D9F0-8558-07C9-BE7E-25C0BBC4D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DD05EF-3669-CD78-680C-6195E07099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7E2BBB-7035-4A22-AA2F-936744790C63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261509-505C-0472-C69C-A66190BBE3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55084C-5D5C-55B3-8750-7F926F5E9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B0A43E-880A-41BE-8D0C-8CDD8A7591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9095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0C240CDE-C30A-2F83-56D1-10B3D5764A49}"/>
              </a:ext>
            </a:extLst>
          </p:cNvPr>
          <p:cNvCxnSpPr/>
          <p:nvPr/>
        </p:nvCxnSpPr>
        <p:spPr>
          <a:xfrm flipV="1">
            <a:off x="11074400" y="-762000"/>
            <a:ext cx="381000" cy="381000"/>
          </a:xfrm>
          <a:prstGeom prst="line">
            <a:avLst/>
          </a:prstGeom>
          <a:ln w="184150">
            <a:solidFill>
              <a:srgbClr val="A83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FFE060CB-5143-D8D1-5FDE-31BD247A0F21}"/>
              </a:ext>
            </a:extLst>
          </p:cNvPr>
          <p:cNvCxnSpPr/>
          <p:nvPr/>
        </p:nvCxnSpPr>
        <p:spPr>
          <a:xfrm flipV="1">
            <a:off x="11074400" y="-508000"/>
            <a:ext cx="381000" cy="381000"/>
          </a:xfrm>
          <a:prstGeom prst="line">
            <a:avLst/>
          </a:prstGeom>
          <a:ln w="184150">
            <a:solidFill>
              <a:srgbClr val="F3E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AD196A59-46F8-EA6B-4B2D-10AE429B422A}"/>
              </a:ext>
            </a:extLst>
          </p:cNvPr>
          <p:cNvCxnSpPr/>
          <p:nvPr/>
        </p:nvCxnSpPr>
        <p:spPr>
          <a:xfrm flipV="1">
            <a:off x="11074400" y="-254000"/>
            <a:ext cx="381000" cy="381000"/>
          </a:xfrm>
          <a:prstGeom prst="line">
            <a:avLst/>
          </a:prstGeom>
          <a:ln w="184150">
            <a:solidFill>
              <a:srgbClr val="A83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2B2A191D-FFC7-E6B4-1B52-923EFB2673BE}"/>
              </a:ext>
            </a:extLst>
          </p:cNvPr>
          <p:cNvCxnSpPr/>
          <p:nvPr/>
        </p:nvCxnSpPr>
        <p:spPr>
          <a:xfrm flipV="1">
            <a:off x="11074400" y="0"/>
            <a:ext cx="381000" cy="381000"/>
          </a:xfrm>
          <a:prstGeom prst="line">
            <a:avLst/>
          </a:prstGeom>
          <a:ln w="184150">
            <a:solidFill>
              <a:srgbClr val="F3E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146409AF-D2E9-F97B-06B8-7B1F214DC308}"/>
              </a:ext>
            </a:extLst>
          </p:cNvPr>
          <p:cNvCxnSpPr/>
          <p:nvPr/>
        </p:nvCxnSpPr>
        <p:spPr>
          <a:xfrm flipV="1">
            <a:off x="11074400" y="254000"/>
            <a:ext cx="381000" cy="381000"/>
          </a:xfrm>
          <a:prstGeom prst="line">
            <a:avLst/>
          </a:prstGeom>
          <a:ln w="184150">
            <a:solidFill>
              <a:srgbClr val="A83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650441DC-2A5C-EE0A-5B61-B45BADB7789D}"/>
              </a:ext>
            </a:extLst>
          </p:cNvPr>
          <p:cNvCxnSpPr/>
          <p:nvPr/>
        </p:nvCxnSpPr>
        <p:spPr>
          <a:xfrm flipV="1">
            <a:off x="11074400" y="508000"/>
            <a:ext cx="381000" cy="381000"/>
          </a:xfrm>
          <a:prstGeom prst="line">
            <a:avLst/>
          </a:prstGeom>
          <a:ln w="184150">
            <a:solidFill>
              <a:srgbClr val="F3E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95943ADA-11AD-4211-B6EC-8D7A121A8E49}"/>
              </a:ext>
            </a:extLst>
          </p:cNvPr>
          <p:cNvCxnSpPr/>
          <p:nvPr/>
        </p:nvCxnSpPr>
        <p:spPr>
          <a:xfrm flipV="1">
            <a:off x="11074400" y="762000"/>
            <a:ext cx="381000" cy="381000"/>
          </a:xfrm>
          <a:prstGeom prst="line">
            <a:avLst/>
          </a:prstGeom>
          <a:ln w="184150">
            <a:solidFill>
              <a:srgbClr val="A83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C25933F0-C18D-F664-6509-50D2A1599F0F}"/>
              </a:ext>
            </a:extLst>
          </p:cNvPr>
          <p:cNvCxnSpPr/>
          <p:nvPr/>
        </p:nvCxnSpPr>
        <p:spPr>
          <a:xfrm flipV="1">
            <a:off x="11074400" y="1016000"/>
            <a:ext cx="381000" cy="381000"/>
          </a:xfrm>
          <a:prstGeom prst="line">
            <a:avLst/>
          </a:prstGeom>
          <a:ln w="184150">
            <a:solidFill>
              <a:srgbClr val="F3E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592172A3-17F9-653E-F75E-A0FC895D1033}"/>
              </a:ext>
            </a:extLst>
          </p:cNvPr>
          <p:cNvCxnSpPr/>
          <p:nvPr/>
        </p:nvCxnSpPr>
        <p:spPr>
          <a:xfrm flipV="1">
            <a:off x="11074400" y="1270000"/>
            <a:ext cx="381000" cy="381000"/>
          </a:xfrm>
          <a:prstGeom prst="line">
            <a:avLst/>
          </a:prstGeom>
          <a:ln w="184150">
            <a:solidFill>
              <a:srgbClr val="A83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1AAAC0EF-FE54-9CDA-6F59-75F9CA7A4D67}"/>
              </a:ext>
            </a:extLst>
          </p:cNvPr>
          <p:cNvCxnSpPr/>
          <p:nvPr/>
        </p:nvCxnSpPr>
        <p:spPr>
          <a:xfrm flipV="1">
            <a:off x="11074400" y="1524000"/>
            <a:ext cx="381000" cy="381000"/>
          </a:xfrm>
          <a:prstGeom prst="line">
            <a:avLst/>
          </a:prstGeom>
          <a:ln w="184150">
            <a:solidFill>
              <a:srgbClr val="F3E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FBF382D1-5FDB-5175-CAF7-4EE3DD531216}"/>
              </a:ext>
            </a:extLst>
          </p:cNvPr>
          <p:cNvCxnSpPr/>
          <p:nvPr/>
        </p:nvCxnSpPr>
        <p:spPr>
          <a:xfrm flipV="1">
            <a:off x="11074400" y="1778000"/>
            <a:ext cx="381000" cy="381000"/>
          </a:xfrm>
          <a:prstGeom prst="line">
            <a:avLst/>
          </a:prstGeom>
          <a:ln w="184150">
            <a:solidFill>
              <a:srgbClr val="A83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E54801A0-136E-1FEB-CC28-68CC4E633207}"/>
              </a:ext>
            </a:extLst>
          </p:cNvPr>
          <p:cNvCxnSpPr/>
          <p:nvPr/>
        </p:nvCxnSpPr>
        <p:spPr>
          <a:xfrm flipV="1">
            <a:off x="11074400" y="2032000"/>
            <a:ext cx="381000" cy="381000"/>
          </a:xfrm>
          <a:prstGeom prst="line">
            <a:avLst/>
          </a:prstGeom>
          <a:ln w="184150">
            <a:solidFill>
              <a:srgbClr val="F3E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E50C844F-5254-BF4B-CE0C-893FFFF94BFA}"/>
              </a:ext>
            </a:extLst>
          </p:cNvPr>
          <p:cNvCxnSpPr/>
          <p:nvPr/>
        </p:nvCxnSpPr>
        <p:spPr>
          <a:xfrm flipV="1">
            <a:off x="11074400" y="2286000"/>
            <a:ext cx="381000" cy="381000"/>
          </a:xfrm>
          <a:prstGeom prst="line">
            <a:avLst/>
          </a:prstGeom>
          <a:ln w="184150">
            <a:solidFill>
              <a:srgbClr val="A83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43991E74-3460-D6EF-40B3-BCAE23673072}"/>
              </a:ext>
            </a:extLst>
          </p:cNvPr>
          <p:cNvCxnSpPr/>
          <p:nvPr/>
        </p:nvCxnSpPr>
        <p:spPr>
          <a:xfrm flipV="1">
            <a:off x="11074400" y="2540000"/>
            <a:ext cx="381000" cy="381000"/>
          </a:xfrm>
          <a:prstGeom prst="line">
            <a:avLst/>
          </a:prstGeom>
          <a:ln w="184150">
            <a:solidFill>
              <a:srgbClr val="F3E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1413A01-0CC8-3A97-A4DD-862EEB24E815}"/>
              </a:ext>
            </a:extLst>
          </p:cNvPr>
          <p:cNvCxnSpPr/>
          <p:nvPr/>
        </p:nvCxnSpPr>
        <p:spPr>
          <a:xfrm flipV="1">
            <a:off x="11074400" y="2794000"/>
            <a:ext cx="381000" cy="381000"/>
          </a:xfrm>
          <a:prstGeom prst="line">
            <a:avLst/>
          </a:prstGeom>
          <a:ln w="184150">
            <a:solidFill>
              <a:srgbClr val="A83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E1AB6FD4-598B-0BAA-C826-C96FB3A1206B}"/>
              </a:ext>
            </a:extLst>
          </p:cNvPr>
          <p:cNvCxnSpPr/>
          <p:nvPr/>
        </p:nvCxnSpPr>
        <p:spPr>
          <a:xfrm flipV="1">
            <a:off x="11074400" y="3048000"/>
            <a:ext cx="381000" cy="381000"/>
          </a:xfrm>
          <a:prstGeom prst="line">
            <a:avLst/>
          </a:prstGeom>
          <a:ln w="184150">
            <a:solidFill>
              <a:srgbClr val="F3E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5A885A05-CEFE-E64F-565B-642850E18626}"/>
              </a:ext>
            </a:extLst>
          </p:cNvPr>
          <p:cNvCxnSpPr/>
          <p:nvPr/>
        </p:nvCxnSpPr>
        <p:spPr>
          <a:xfrm flipV="1">
            <a:off x="11074400" y="3302000"/>
            <a:ext cx="381000" cy="381000"/>
          </a:xfrm>
          <a:prstGeom prst="line">
            <a:avLst/>
          </a:prstGeom>
          <a:ln w="184150">
            <a:solidFill>
              <a:srgbClr val="A83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9C7C4F3D-2ECB-30CE-5EE5-540330D45AFB}"/>
              </a:ext>
            </a:extLst>
          </p:cNvPr>
          <p:cNvCxnSpPr/>
          <p:nvPr/>
        </p:nvCxnSpPr>
        <p:spPr>
          <a:xfrm flipV="1">
            <a:off x="11074400" y="3556000"/>
            <a:ext cx="381000" cy="381000"/>
          </a:xfrm>
          <a:prstGeom prst="line">
            <a:avLst/>
          </a:prstGeom>
          <a:ln w="184150">
            <a:solidFill>
              <a:srgbClr val="F3E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42789358-6822-89B1-4BE8-F932937AFF8F}"/>
              </a:ext>
            </a:extLst>
          </p:cNvPr>
          <p:cNvCxnSpPr/>
          <p:nvPr/>
        </p:nvCxnSpPr>
        <p:spPr>
          <a:xfrm flipV="1">
            <a:off x="11074400" y="3810000"/>
            <a:ext cx="381000" cy="381000"/>
          </a:xfrm>
          <a:prstGeom prst="line">
            <a:avLst/>
          </a:prstGeom>
          <a:ln w="184150">
            <a:solidFill>
              <a:srgbClr val="A83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8C219061-9962-1585-67D1-A45DF8177AA5}"/>
              </a:ext>
            </a:extLst>
          </p:cNvPr>
          <p:cNvCxnSpPr/>
          <p:nvPr/>
        </p:nvCxnSpPr>
        <p:spPr>
          <a:xfrm flipV="1">
            <a:off x="11074400" y="4064000"/>
            <a:ext cx="381000" cy="381000"/>
          </a:xfrm>
          <a:prstGeom prst="line">
            <a:avLst/>
          </a:prstGeom>
          <a:ln w="184150">
            <a:solidFill>
              <a:srgbClr val="F3E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A19B1EEA-924F-6C42-355A-342EC31E5217}"/>
              </a:ext>
            </a:extLst>
          </p:cNvPr>
          <p:cNvCxnSpPr/>
          <p:nvPr/>
        </p:nvCxnSpPr>
        <p:spPr>
          <a:xfrm flipV="1">
            <a:off x="11074400" y="4318000"/>
            <a:ext cx="381000" cy="381000"/>
          </a:xfrm>
          <a:prstGeom prst="line">
            <a:avLst/>
          </a:prstGeom>
          <a:ln w="184150">
            <a:solidFill>
              <a:srgbClr val="A83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C9B53381-C10E-2D3A-BECF-17924BB1FF1F}"/>
              </a:ext>
            </a:extLst>
          </p:cNvPr>
          <p:cNvCxnSpPr/>
          <p:nvPr/>
        </p:nvCxnSpPr>
        <p:spPr>
          <a:xfrm flipV="1">
            <a:off x="11074400" y="4572000"/>
            <a:ext cx="381000" cy="381000"/>
          </a:xfrm>
          <a:prstGeom prst="line">
            <a:avLst/>
          </a:prstGeom>
          <a:ln w="184150">
            <a:solidFill>
              <a:srgbClr val="F3E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3B54BCCF-F2B9-CD75-9F56-39510BBF9989}"/>
              </a:ext>
            </a:extLst>
          </p:cNvPr>
          <p:cNvCxnSpPr/>
          <p:nvPr/>
        </p:nvCxnSpPr>
        <p:spPr>
          <a:xfrm flipV="1">
            <a:off x="11074400" y="4826000"/>
            <a:ext cx="381000" cy="381000"/>
          </a:xfrm>
          <a:prstGeom prst="line">
            <a:avLst/>
          </a:prstGeom>
          <a:ln w="184150">
            <a:solidFill>
              <a:srgbClr val="A83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49EAF551-5873-DF71-2FE2-D0E01B462029}"/>
              </a:ext>
            </a:extLst>
          </p:cNvPr>
          <p:cNvCxnSpPr/>
          <p:nvPr/>
        </p:nvCxnSpPr>
        <p:spPr>
          <a:xfrm flipV="1">
            <a:off x="11074400" y="5080000"/>
            <a:ext cx="381000" cy="381000"/>
          </a:xfrm>
          <a:prstGeom prst="line">
            <a:avLst/>
          </a:prstGeom>
          <a:ln w="184150">
            <a:solidFill>
              <a:srgbClr val="F3E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5F505615-1D34-C540-A3C0-53CD04377CB6}"/>
              </a:ext>
            </a:extLst>
          </p:cNvPr>
          <p:cNvCxnSpPr/>
          <p:nvPr/>
        </p:nvCxnSpPr>
        <p:spPr>
          <a:xfrm flipV="1">
            <a:off x="11074400" y="5334000"/>
            <a:ext cx="381000" cy="381000"/>
          </a:xfrm>
          <a:prstGeom prst="line">
            <a:avLst/>
          </a:prstGeom>
          <a:ln w="184150">
            <a:solidFill>
              <a:srgbClr val="A83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15D93B92-E386-20BE-0A9F-2786F0043B27}"/>
              </a:ext>
            </a:extLst>
          </p:cNvPr>
          <p:cNvCxnSpPr/>
          <p:nvPr/>
        </p:nvCxnSpPr>
        <p:spPr>
          <a:xfrm flipV="1">
            <a:off x="11074400" y="5588000"/>
            <a:ext cx="381000" cy="381000"/>
          </a:xfrm>
          <a:prstGeom prst="line">
            <a:avLst/>
          </a:prstGeom>
          <a:ln w="184150">
            <a:solidFill>
              <a:srgbClr val="F3E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5A2AEF19-1899-D07D-D7BB-F7B35EC4EEC0}"/>
              </a:ext>
            </a:extLst>
          </p:cNvPr>
          <p:cNvCxnSpPr/>
          <p:nvPr/>
        </p:nvCxnSpPr>
        <p:spPr>
          <a:xfrm flipV="1">
            <a:off x="11074400" y="5842000"/>
            <a:ext cx="381000" cy="381000"/>
          </a:xfrm>
          <a:prstGeom prst="line">
            <a:avLst/>
          </a:prstGeom>
          <a:ln w="184150">
            <a:solidFill>
              <a:srgbClr val="A83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2917F73A-1DDE-1FBC-508A-54AF491B9EA9}"/>
              </a:ext>
            </a:extLst>
          </p:cNvPr>
          <p:cNvCxnSpPr/>
          <p:nvPr/>
        </p:nvCxnSpPr>
        <p:spPr>
          <a:xfrm flipV="1">
            <a:off x="11074400" y="6096000"/>
            <a:ext cx="381000" cy="381000"/>
          </a:xfrm>
          <a:prstGeom prst="line">
            <a:avLst/>
          </a:prstGeom>
          <a:ln w="184150">
            <a:solidFill>
              <a:srgbClr val="F3E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3E2E5447-A17E-CBEC-5273-F4D6FF0290E6}"/>
              </a:ext>
            </a:extLst>
          </p:cNvPr>
          <p:cNvCxnSpPr/>
          <p:nvPr/>
        </p:nvCxnSpPr>
        <p:spPr>
          <a:xfrm flipV="1">
            <a:off x="11074400" y="6350000"/>
            <a:ext cx="381000" cy="381000"/>
          </a:xfrm>
          <a:prstGeom prst="line">
            <a:avLst/>
          </a:prstGeom>
          <a:ln w="184150">
            <a:solidFill>
              <a:srgbClr val="A83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C0C0C79C-8A51-BA3F-DA71-1E3F5E1C4745}"/>
              </a:ext>
            </a:extLst>
          </p:cNvPr>
          <p:cNvCxnSpPr/>
          <p:nvPr/>
        </p:nvCxnSpPr>
        <p:spPr>
          <a:xfrm flipV="1">
            <a:off x="11074400" y="6604000"/>
            <a:ext cx="381000" cy="381000"/>
          </a:xfrm>
          <a:prstGeom prst="line">
            <a:avLst/>
          </a:prstGeom>
          <a:ln w="184150">
            <a:solidFill>
              <a:srgbClr val="F3E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64DF4EEF-C016-1F83-5017-6EA1BF8059A8}"/>
              </a:ext>
            </a:extLst>
          </p:cNvPr>
          <p:cNvCxnSpPr/>
          <p:nvPr/>
        </p:nvCxnSpPr>
        <p:spPr>
          <a:xfrm flipV="1">
            <a:off x="11074400" y="6858000"/>
            <a:ext cx="381000" cy="381000"/>
          </a:xfrm>
          <a:prstGeom prst="line">
            <a:avLst/>
          </a:prstGeom>
          <a:ln w="184150">
            <a:solidFill>
              <a:srgbClr val="A83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DE146322-5955-E514-6C1A-DB15AB5428AB}"/>
              </a:ext>
            </a:extLst>
          </p:cNvPr>
          <p:cNvCxnSpPr/>
          <p:nvPr/>
        </p:nvCxnSpPr>
        <p:spPr>
          <a:xfrm flipV="1">
            <a:off x="11074400" y="7112000"/>
            <a:ext cx="381000" cy="381000"/>
          </a:xfrm>
          <a:prstGeom prst="line">
            <a:avLst/>
          </a:prstGeom>
          <a:ln w="184150">
            <a:solidFill>
              <a:srgbClr val="F3E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117C1568-877E-C0BB-4BDD-FB5B076810CC}"/>
              </a:ext>
            </a:extLst>
          </p:cNvPr>
          <p:cNvCxnSpPr/>
          <p:nvPr/>
        </p:nvCxnSpPr>
        <p:spPr>
          <a:xfrm flipV="1">
            <a:off x="11074400" y="7366000"/>
            <a:ext cx="381000" cy="381000"/>
          </a:xfrm>
          <a:prstGeom prst="line">
            <a:avLst/>
          </a:prstGeom>
          <a:ln w="184150">
            <a:solidFill>
              <a:srgbClr val="A83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tângulo 34">
            <a:extLst>
              <a:ext uri="{FF2B5EF4-FFF2-40B4-BE49-F238E27FC236}">
                <a16:creationId xmlns:a16="http://schemas.microsoft.com/office/drawing/2014/main" id="{C9EC1663-F6C6-75E2-8000-D87EF4DFB678}"/>
              </a:ext>
            </a:extLst>
          </p:cNvPr>
          <p:cNvSpPr/>
          <p:nvPr/>
        </p:nvSpPr>
        <p:spPr>
          <a:xfrm>
            <a:off x="10769600" y="0"/>
            <a:ext cx="304800" cy="6858000"/>
          </a:xfrm>
          <a:prstGeom prst="rect">
            <a:avLst/>
          </a:prstGeom>
          <a:solidFill>
            <a:srgbClr val="1C1B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88AA8021-CDBD-E60F-35EF-6381BEFBA6B1}"/>
              </a:ext>
            </a:extLst>
          </p:cNvPr>
          <p:cNvSpPr/>
          <p:nvPr/>
        </p:nvSpPr>
        <p:spPr>
          <a:xfrm>
            <a:off x="11455400" y="0"/>
            <a:ext cx="304800" cy="6858000"/>
          </a:xfrm>
          <a:prstGeom prst="rect">
            <a:avLst/>
          </a:prstGeom>
          <a:solidFill>
            <a:srgbClr val="1C1B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E383A9C5-FD18-1853-F48A-BEA62221FC76}"/>
              </a:ext>
            </a:extLst>
          </p:cNvPr>
          <p:cNvSpPr/>
          <p:nvPr/>
        </p:nvSpPr>
        <p:spPr>
          <a:xfrm>
            <a:off x="11036300" y="0"/>
            <a:ext cx="38100" cy="6858000"/>
          </a:xfrm>
          <a:prstGeom prst="rect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0E7FE7D8-BE31-FF5E-5540-2F317A22163A}"/>
              </a:ext>
            </a:extLst>
          </p:cNvPr>
          <p:cNvSpPr/>
          <p:nvPr/>
        </p:nvSpPr>
        <p:spPr>
          <a:xfrm>
            <a:off x="11455400" y="0"/>
            <a:ext cx="38100" cy="6858000"/>
          </a:xfrm>
          <a:prstGeom prst="rect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79E0722E-520B-2D2D-888B-75F4310EC39B}"/>
              </a:ext>
            </a:extLst>
          </p:cNvPr>
          <p:cNvSpPr/>
          <p:nvPr/>
        </p:nvSpPr>
        <p:spPr>
          <a:xfrm>
            <a:off x="812800" y="1905000"/>
            <a:ext cx="355600" cy="38100"/>
          </a:xfrm>
          <a:prstGeom prst="rect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0E9CAFAA-5766-298B-4EB9-C1F3A06DC317}"/>
              </a:ext>
            </a:extLst>
          </p:cNvPr>
          <p:cNvSpPr txBox="1"/>
          <p:nvPr/>
        </p:nvSpPr>
        <p:spPr>
          <a:xfrm>
            <a:off x="812800" y="2057400"/>
            <a:ext cx="8890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300">
                <a:solidFill>
                  <a:srgbClr val="B8893B"/>
                </a:solidFill>
                <a:latin typeface="Segoe UI Semibold" panose="020B0702040204020203" pitchFamily="34" charset="0"/>
              </a:rPr>
              <a:t>DIAGNÓSTICO GRATUITO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988FB314-D65F-7FB4-238A-E40F8C99B14E}"/>
              </a:ext>
            </a:extLst>
          </p:cNvPr>
          <p:cNvSpPr txBox="1"/>
          <p:nvPr/>
        </p:nvSpPr>
        <p:spPr>
          <a:xfrm>
            <a:off x="812800" y="2489200"/>
            <a:ext cx="9652000" cy="215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pt-BR" sz="4400">
                <a:solidFill>
                  <a:srgbClr val="F3EDE3"/>
                </a:solidFill>
                <a:latin typeface="Georgia" panose="02040502050405020303" pitchFamily="18" charset="0"/>
              </a:rPr>
              <a:t>Quanto do seu dia vai para o celular, e não para a cadeira?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144360D2-478C-173B-0852-41DEC097EC75}"/>
              </a:ext>
            </a:extLst>
          </p:cNvPr>
          <p:cNvSpPr txBox="1"/>
          <p:nvPr/>
        </p:nvSpPr>
        <p:spPr>
          <a:xfrm>
            <a:off x="812800" y="4267200"/>
            <a:ext cx="88900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700">
                <a:solidFill>
                  <a:srgbClr val="CFC6B8"/>
                </a:solidFill>
                <a:latin typeface="Segoe UI" panose="020B0502040204020203" pitchFamily="34" charset="0"/>
              </a:rPr>
              <a:t>Um convite para entender a rotina da sua barbearia e descobrir, juntos, onde ela pode render mais.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42EAB3D6-C281-58F5-EE08-3A5084111687}"/>
              </a:ext>
            </a:extLst>
          </p:cNvPr>
          <p:cNvSpPr txBox="1"/>
          <p:nvPr/>
        </p:nvSpPr>
        <p:spPr>
          <a:xfrm>
            <a:off x="812800" y="5969000"/>
            <a:ext cx="889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200">
                <a:solidFill>
                  <a:srgbClr val="B8893B"/>
                </a:solidFill>
                <a:latin typeface="Segoe UI Semibold" panose="020B0702040204020203" pitchFamily="34" charset="0"/>
              </a:rPr>
              <a:t>Arthur  ·  Projeto AJ  ·  Preparado para [nome da barbearia]</a:t>
            </a:r>
          </a:p>
        </p:txBody>
      </p:sp>
    </p:spTree>
    <p:extLst>
      <p:ext uri="{BB962C8B-B14F-4D97-AF65-F5344CB8AC3E}">
        <p14:creationId xmlns:p14="http://schemas.microsoft.com/office/powerpoint/2010/main" val="1839805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8CA02A0-01FD-9B45-FF58-7D4DDE7FCF56}"/>
              </a:ext>
            </a:extLst>
          </p:cNvPr>
          <p:cNvSpPr/>
          <p:nvPr/>
        </p:nvSpPr>
        <p:spPr>
          <a:xfrm>
            <a:off x="812800" y="635000"/>
            <a:ext cx="355600" cy="38100"/>
          </a:xfrm>
          <a:prstGeom prst="rect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0B7DD1C-DAB1-4D9B-C6A3-BC68F3D4AA9E}"/>
              </a:ext>
            </a:extLst>
          </p:cNvPr>
          <p:cNvSpPr txBox="1"/>
          <p:nvPr/>
        </p:nvSpPr>
        <p:spPr>
          <a:xfrm>
            <a:off x="812800" y="787400"/>
            <a:ext cx="965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100">
                <a:solidFill>
                  <a:srgbClr val="B8893B"/>
                </a:solidFill>
                <a:latin typeface="Segoe UI Semibold" panose="020B0702040204020203" pitchFamily="34" charset="0"/>
              </a:rPr>
              <a:t>QUEM SOU E POR QUE ESTOU AQUI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FABBB60-453D-A764-06E5-EA03DC894177}"/>
              </a:ext>
            </a:extLst>
          </p:cNvPr>
          <p:cNvSpPr txBox="1"/>
          <p:nvPr/>
        </p:nvSpPr>
        <p:spPr>
          <a:xfrm>
            <a:off x="812800" y="1066800"/>
            <a:ext cx="105664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000">
                <a:solidFill>
                  <a:srgbClr val="2A2826"/>
                </a:solidFill>
                <a:latin typeface="Georgia" panose="02040502050405020303" pitchFamily="18" charset="0"/>
              </a:rPr>
              <a:t>Quero começar pelo negócio de verdade, não pela ferramenta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8260CFE-9596-3BFE-C7DB-FAE1B7C17DBF}"/>
              </a:ext>
            </a:extLst>
          </p:cNvPr>
          <p:cNvSpPr/>
          <p:nvPr/>
        </p:nvSpPr>
        <p:spPr>
          <a:xfrm>
            <a:off x="812800" y="2362200"/>
            <a:ext cx="3314700" cy="271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9A77E951-98FA-CDE2-15BC-217761E3B338}"/>
              </a:ext>
            </a:extLst>
          </p:cNvPr>
          <p:cNvSpPr/>
          <p:nvPr/>
        </p:nvSpPr>
        <p:spPr>
          <a:xfrm>
            <a:off x="1117600" y="2667000"/>
            <a:ext cx="457200" cy="457200"/>
          </a:xfrm>
          <a:prstGeom prst="ellipse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500">
                <a:solidFill>
                  <a:srgbClr val="FFFFFF"/>
                </a:solidFill>
                <a:latin typeface="Segoe UI Semibold" panose="020B0702040204020203" pitchFamily="34" charset="0"/>
              </a:rPr>
              <a:t>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0091001-FD67-788B-56C2-18DCB02FB376}"/>
              </a:ext>
            </a:extLst>
          </p:cNvPr>
          <p:cNvSpPr txBox="1"/>
          <p:nvPr/>
        </p:nvSpPr>
        <p:spPr>
          <a:xfrm>
            <a:off x="1117600" y="3352800"/>
            <a:ext cx="27051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600">
                <a:solidFill>
                  <a:srgbClr val="2A2826"/>
                </a:solidFill>
                <a:latin typeface="Segoe UI Semibold" panose="020B0702040204020203" pitchFamily="34" charset="0"/>
              </a:rPr>
              <a:t>Um método em construção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12B009C-1A88-67B7-AFFC-D9D268A41D0D}"/>
              </a:ext>
            </a:extLst>
          </p:cNvPr>
          <p:cNvSpPr txBox="1"/>
          <p:nvPr/>
        </p:nvSpPr>
        <p:spPr>
          <a:xfrm>
            <a:off x="1117600" y="4013200"/>
            <a:ext cx="27051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1300">
                <a:solidFill>
                  <a:srgbClr val="6B6660"/>
                </a:solidFill>
                <a:latin typeface="Segoe UI" panose="020B0502040204020203" pitchFamily="34" charset="0"/>
              </a:rPr>
              <a:t>Estou montando uma consultoria que usa IA para melhorar a rotina de pequenos negócios.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1C41D67A-DA18-3483-1D65-30EF46C148DE}"/>
              </a:ext>
            </a:extLst>
          </p:cNvPr>
          <p:cNvSpPr/>
          <p:nvPr/>
        </p:nvSpPr>
        <p:spPr>
          <a:xfrm>
            <a:off x="4432300" y="2362200"/>
            <a:ext cx="3314700" cy="271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88820205-219C-82DC-24CD-6D8540371AD0}"/>
              </a:ext>
            </a:extLst>
          </p:cNvPr>
          <p:cNvSpPr/>
          <p:nvPr/>
        </p:nvSpPr>
        <p:spPr>
          <a:xfrm>
            <a:off x="4737100" y="2667000"/>
            <a:ext cx="457200" cy="457200"/>
          </a:xfrm>
          <a:prstGeom prst="ellipse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500">
                <a:solidFill>
                  <a:srgbClr val="FFFFFF"/>
                </a:solidFill>
                <a:latin typeface="Segoe UI Semibold" panose="020B0702040204020203" pitchFamily="34" charset="0"/>
              </a:rPr>
              <a:t>2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A4EA8BE-8A3A-C969-27F7-B2B5F898B03A}"/>
              </a:ext>
            </a:extLst>
          </p:cNvPr>
          <p:cNvSpPr txBox="1"/>
          <p:nvPr/>
        </p:nvSpPr>
        <p:spPr>
          <a:xfrm>
            <a:off x="4737100" y="3352800"/>
            <a:ext cx="27051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600">
                <a:solidFill>
                  <a:srgbClr val="2A2826"/>
                </a:solidFill>
                <a:latin typeface="Segoe UI Semibold" panose="020B0702040204020203" pitchFamily="34" charset="0"/>
              </a:rPr>
              <a:t>Começar ao lado de quem faz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8CC942C-92C4-67E4-92E3-46039D1A6DA1}"/>
              </a:ext>
            </a:extLst>
          </p:cNvPr>
          <p:cNvSpPr txBox="1"/>
          <p:nvPr/>
        </p:nvSpPr>
        <p:spPr>
          <a:xfrm>
            <a:off x="4737100" y="4013200"/>
            <a:ext cx="27051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1300">
                <a:solidFill>
                  <a:srgbClr val="6B6660"/>
                </a:solidFill>
                <a:latin typeface="Segoe UI" panose="020B0502040204020203" pitchFamily="34" charset="0"/>
              </a:rPr>
              <a:t>Quero aprender com um negócio real, com o dono participando das decisões.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490B437-4E6B-94E6-2EFA-27B4DE299396}"/>
              </a:ext>
            </a:extLst>
          </p:cNvPr>
          <p:cNvSpPr/>
          <p:nvPr/>
        </p:nvSpPr>
        <p:spPr>
          <a:xfrm>
            <a:off x="8051800" y="2362200"/>
            <a:ext cx="3314700" cy="271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7D2E934-2C5D-10CE-83B7-A1C175F01642}"/>
              </a:ext>
            </a:extLst>
          </p:cNvPr>
          <p:cNvSpPr/>
          <p:nvPr/>
        </p:nvSpPr>
        <p:spPr>
          <a:xfrm>
            <a:off x="8356600" y="2667000"/>
            <a:ext cx="457200" cy="457200"/>
          </a:xfrm>
          <a:prstGeom prst="ellipse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500">
                <a:solidFill>
                  <a:srgbClr val="FFFFFF"/>
                </a:solidFill>
                <a:latin typeface="Segoe UI Semibold" panose="020B0702040204020203" pitchFamily="34" charset="0"/>
              </a:rPr>
              <a:t>3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457A605-190C-A592-5C3D-DA6472A267FF}"/>
              </a:ext>
            </a:extLst>
          </p:cNvPr>
          <p:cNvSpPr txBox="1"/>
          <p:nvPr/>
        </p:nvSpPr>
        <p:spPr>
          <a:xfrm>
            <a:off x="8356600" y="3352800"/>
            <a:ext cx="27051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600">
                <a:solidFill>
                  <a:srgbClr val="2A2826"/>
                </a:solidFill>
                <a:latin typeface="Segoe UI Semibold" panose="020B0702040204020203" pitchFamily="34" charset="0"/>
              </a:rPr>
              <a:t>Você seria o primeiro parceiro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C7FF0FD-31FE-06F6-3DA7-F8E3ACB87670}"/>
              </a:ext>
            </a:extLst>
          </p:cNvPr>
          <p:cNvSpPr txBox="1"/>
          <p:nvPr/>
        </p:nvSpPr>
        <p:spPr>
          <a:xfrm>
            <a:off x="8356600" y="4013200"/>
            <a:ext cx="27051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1300">
                <a:solidFill>
                  <a:srgbClr val="6B6660"/>
                </a:solidFill>
                <a:latin typeface="Segoe UI" panose="020B0502040204020203" pitchFamily="34" charset="0"/>
              </a:rPr>
              <a:t>Por isso o diagnóstico é gratuito. Em troca, peço tempo e franqueza sobre como a barbearia funciona.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6E84A6E-05BC-5C54-4639-F729D7667112}"/>
              </a:ext>
            </a:extLst>
          </p:cNvPr>
          <p:cNvSpPr txBox="1"/>
          <p:nvPr/>
        </p:nvSpPr>
        <p:spPr>
          <a:xfrm>
            <a:off x="812800" y="64516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900">
                <a:solidFill>
                  <a:srgbClr val="6B6660"/>
                </a:solidFill>
                <a:latin typeface="Segoe UI" panose="020B0502040204020203" pitchFamily="34" charset="0"/>
              </a:rPr>
              <a:t>Diagnóstico gratuito  ·  Projeto AJ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65CED12-4BBC-A570-2C4F-4E39391A6C17}"/>
              </a:ext>
            </a:extLst>
          </p:cNvPr>
          <p:cNvSpPr txBox="1"/>
          <p:nvPr/>
        </p:nvSpPr>
        <p:spPr>
          <a:xfrm>
            <a:off x="10109200" y="64516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lang="pt-BR" sz="900">
                <a:solidFill>
                  <a:srgbClr val="6B6660"/>
                </a:solidFill>
                <a:latin typeface="Segoe UI" panose="020B0502040204020203" pitchFamily="34" charset="0"/>
              </a:rPr>
              <a:t>2 / 13</a:t>
            </a:r>
          </a:p>
        </p:txBody>
      </p:sp>
    </p:spTree>
    <p:extLst>
      <p:ext uri="{BB962C8B-B14F-4D97-AF65-F5344CB8AC3E}">
        <p14:creationId xmlns:p14="http://schemas.microsoft.com/office/powerpoint/2010/main" val="3798197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E3A65C7-7760-1B04-CEEA-D9A54EA900DD}"/>
              </a:ext>
            </a:extLst>
          </p:cNvPr>
          <p:cNvSpPr/>
          <p:nvPr/>
        </p:nvSpPr>
        <p:spPr>
          <a:xfrm>
            <a:off x="812800" y="635000"/>
            <a:ext cx="355600" cy="38100"/>
          </a:xfrm>
          <a:prstGeom prst="rect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7CB6C0E-829F-EBC8-B880-BF6DDEF1E74F}"/>
              </a:ext>
            </a:extLst>
          </p:cNvPr>
          <p:cNvSpPr txBox="1"/>
          <p:nvPr/>
        </p:nvSpPr>
        <p:spPr>
          <a:xfrm>
            <a:off x="812800" y="787400"/>
            <a:ext cx="965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100">
                <a:solidFill>
                  <a:srgbClr val="B8893B"/>
                </a:solidFill>
                <a:latin typeface="Segoe UI Semibold" panose="020B0702040204020203" pitchFamily="34" charset="0"/>
              </a:rPr>
              <a:t>O DIA A DIA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5CB6EA4-9986-2253-66EB-04629565E62A}"/>
              </a:ext>
            </a:extLst>
          </p:cNvPr>
          <p:cNvSpPr txBox="1"/>
          <p:nvPr/>
        </p:nvSpPr>
        <p:spPr>
          <a:xfrm>
            <a:off x="812800" y="1066800"/>
            <a:ext cx="10566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200">
                <a:solidFill>
                  <a:srgbClr val="F3EDE3"/>
                </a:solidFill>
                <a:latin typeface="Georgia" panose="02040502050405020303" pitchFamily="18" charset="0"/>
              </a:rPr>
              <a:t>Alguma dessas cenas acontece aí?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4D96A4A-D80A-79D5-0A59-A90ADFFF57E5}"/>
              </a:ext>
            </a:extLst>
          </p:cNvPr>
          <p:cNvSpPr/>
          <p:nvPr/>
        </p:nvSpPr>
        <p:spPr>
          <a:xfrm>
            <a:off x="812800" y="2159000"/>
            <a:ext cx="5130800" cy="1397000"/>
          </a:xfrm>
          <a:prstGeom prst="rect">
            <a:avLst/>
          </a:prstGeom>
          <a:solidFill>
            <a:srgbClr val="2A28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3C415E3-0F9C-8E32-D7FA-550065E044C0}"/>
              </a:ext>
            </a:extLst>
          </p:cNvPr>
          <p:cNvSpPr/>
          <p:nvPr/>
        </p:nvSpPr>
        <p:spPr>
          <a:xfrm>
            <a:off x="812800" y="2159000"/>
            <a:ext cx="50800" cy="1397000"/>
          </a:xfrm>
          <a:prstGeom prst="rect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F34F050-B257-3A16-A1AE-AB4EFFF75604}"/>
              </a:ext>
            </a:extLst>
          </p:cNvPr>
          <p:cNvSpPr txBox="1"/>
          <p:nvPr/>
        </p:nvSpPr>
        <p:spPr>
          <a:xfrm>
            <a:off x="1117600" y="2260600"/>
            <a:ext cx="50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4800">
                <a:solidFill>
                  <a:srgbClr val="B8893B"/>
                </a:solidFill>
                <a:latin typeface="Georgia" panose="02040502050405020303" pitchFamily="18" charset="0"/>
              </a:rPr>
              <a:t>“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10A8A28-2CB6-5BEE-6613-4B32155493A0}"/>
              </a:ext>
            </a:extLst>
          </p:cNvPr>
          <p:cNvSpPr txBox="1"/>
          <p:nvPr/>
        </p:nvSpPr>
        <p:spPr>
          <a:xfrm>
            <a:off x="1701800" y="2349500"/>
            <a:ext cx="3937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700">
                <a:solidFill>
                  <a:srgbClr val="F3EDE3"/>
                </a:solidFill>
                <a:latin typeface="Segoe UI" panose="020B0502040204020203" pitchFamily="34" charset="0"/>
              </a:rPr>
              <a:t>Mensagem chegando enquanto você está com a máquina na mão.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00CBCAD-C7C9-0277-195B-9CA23509BDA5}"/>
              </a:ext>
            </a:extLst>
          </p:cNvPr>
          <p:cNvSpPr/>
          <p:nvPr/>
        </p:nvSpPr>
        <p:spPr>
          <a:xfrm>
            <a:off x="6248400" y="2159000"/>
            <a:ext cx="5130800" cy="1397000"/>
          </a:xfrm>
          <a:prstGeom prst="rect">
            <a:avLst/>
          </a:prstGeom>
          <a:solidFill>
            <a:srgbClr val="2A28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13792C2-CCDC-3AE7-EBB8-7A40703F64ED}"/>
              </a:ext>
            </a:extLst>
          </p:cNvPr>
          <p:cNvSpPr/>
          <p:nvPr/>
        </p:nvSpPr>
        <p:spPr>
          <a:xfrm>
            <a:off x="6248400" y="2159000"/>
            <a:ext cx="50800" cy="1397000"/>
          </a:xfrm>
          <a:prstGeom prst="rect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D8A7983-F070-3181-3399-AAC02F53A22F}"/>
              </a:ext>
            </a:extLst>
          </p:cNvPr>
          <p:cNvSpPr txBox="1"/>
          <p:nvPr/>
        </p:nvSpPr>
        <p:spPr>
          <a:xfrm>
            <a:off x="6553200" y="2260600"/>
            <a:ext cx="50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4800">
                <a:solidFill>
                  <a:srgbClr val="B8893B"/>
                </a:solidFill>
                <a:latin typeface="Georgia" panose="02040502050405020303" pitchFamily="18" charset="0"/>
              </a:rPr>
              <a:t>“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E6E8DBF-E866-CBF5-36F3-BE3B9BFF0571}"/>
              </a:ext>
            </a:extLst>
          </p:cNvPr>
          <p:cNvSpPr txBox="1"/>
          <p:nvPr/>
        </p:nvSpPr>
        <p:spPr>
          <a:xfrm>
            <a:off x="7137400" y="2349500"/>
            <a:ext cx="3937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700">
                <a:solidFill>
                  <a:srgbClr val="F3EDE3"/>
                </a:solidFill>
                <a:latin typeface="Segoe UI" panose="020B0502040204020203" pitchFamily="34" charset="0"/>
              </a:rPr>
              <a:t>Vai e volta de mensagens só para marcar um horário.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1D1DE80-158E-DFF7-F185-08FC61A7885B}"/>
              </a:ext>
            </a:extLst>
          </p:cNvPr>
          <p:cNvSpPr/>
          <p:nvPr/>
        </p:nvSpPr>
        <p:spPr>
          <a:xfrm>
            <a:off x="812800" y="3810000"/>
            <a:ext cx="5130800" cy="1397000"/>
          </a:xfrm>
          <a:prstGeom prst="rect">
            <a:avLst/>
          </a:prstGeom>
          <a:solidFill>
            <a:srgbClr val="2A28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BB6E511-7DD1-0E09-6785-9DCFC2EF148D}"/>
              </a:ext>
            </a:extLst>
          </p:cNvPr>
          <p:cNvSpPr/>
          <p:nvPr/>
        </p:nvSpPr>
        <p:spPr>
          <a:xfrm>
            <a:off x="812800" y="3810000"/>
            <a:ext cx="50800" cy="1397000"/>
          </a:xfrm>
          <a:prstGeom prst="rect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1320A07-ECFA-59DB-1B33-A9C0D48CDF20}"/>
              </a:ext>
            </a:extLst>
          </p:cNvPr>
          <p:cNvSpPr txBox="1"/>
          <p:nvPr/>
        </p:nvSpPr>
        <p:spPr>
          <a:xfrm>
            <a:off x="1117600" y="3911600"/>
            <a:ext cx="50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4800">
                <a:solidFill>
                  <a:srgbClr val="B8893B"/>
                </a:solidFill>
                <a:latin typeface="Georgia" panose="02040502050405020303" pitchFamily="18" charset="0"/>
              </a:rPr>
              <a:t>“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39C4DE7-7C87-6FB7-0096-2F02B479805E}"/>
              </a:ext>
            </a:extLst>
          </p:cNvPr>
          <p:cNvSpPr txBox="1"/>
          <p:nvPr/>
        </p:nvSpPr>
        <p:spPr>
          <a:xfrm>
            <a:off x="1701800" y="4000500"/>
            <a:ext cx="3937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700">
                <a:solidFill>
                  <a:srgbClr val="F3EDE3"/>
                </a:solidFill>
                <a:latin typeface="Segoe UI" panose="020B0502040204020203" pitchFamily="34" charset="0"/>
              </a:rPr>
              <a:t>Cliente que marca, não avisa e não aparece.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D430CA64-2E0C-5F63-37A8-67345A10AF04}"/>
              </a:ext>
            </a:extLst>
          </p:cNvPr>
          <p:cNvSpPr/>
          <p:nvPr/>
        </p:nvSpPr>
        <p:spPr>
          <a:xfrm>
            <a:off x="6248400" y="3810000"/>
            <a:ext cx="5130800" cy="1397000"/>
          </a:xfrm>
          <a:prstGeom prst="rect">
            <a:avLst/>
          </a:prstGeom>
          <a:solidFill>
            <a:srgbClr val="2A28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A6BEC55-E03F-FA85-D64D-A1CA47187B76}"/>
              </a:ext>
            </a:extLst>
          </p:cNvPr>
          <p:cNvSpPr/>
          <p:nvPr/>
        </p:nvSpPr>
        <p:spPr>
          <a:xfrm>
            <a:off x="6248400" y="3810000"/>
            <a:ext cx="50800" cy="1397000"/>
          </a:xfrm>
          <a:prstGeom prst="rect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8523BC8-631B-422C-462B-FBA1472BD7A1}"/>
              </a:ext>
            </a:extLst>
          </p:cNvPr>
          <p:cNvSpPr txBox="1"/>
          <p:nvPr/>
        </p:nvSpPr>
        <p:spPr>
          <a:xfrm>
            <a:off x="6553200" y="3911600"/>
            <a:ext cx="50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4800">
                <a:solidFill>
                  <a:srgbClr val="B8893B"/>
                </a:solidFill>
                <a:latin typeface="Georgia" panose="02040502050405020303" pitchFamily="18" charset="0"/>
              </a:rPr>
              <a:t>“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DE6D2C7-E891-AC0F-B20B-4F4E61AEB58E}"/>
              </a:ext>
            </a:extLst>
          </p:cNvPr>
          <p:cNvSpPr txBox="1"/>
          <p:nvPr/>
        </p:nvSpPr>
        <p:spPr>
          <a:xfrm>
            <a:off x="7137400" y="4000500"/>
            <a:ext cx="3937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700">
                <a:solidFill>
                  <a:srgbClr val="F3EDE3"/>
                </a:solidFill>
                <a:latin typeface="Segoe UI" panose="020B0502040204020203" pitchFamily="34" charset="0"/>
              </a:rPr>
              <a:t>Horário vago que ninguém ficou sabendo a tempo.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7A32298-24D9-C063-1D92-58EB58C1B332}"/>
              </a:ext>
            </a:extLst>
          </p:cNvPr>
          <p:cNvSpPr txBox="1"/>
          <p:nvPr/>
        </p:nvSpPr>
        <p:spPr>
          <a:xfrm>
            <a:off x="812800" y="5588000"/>
            <a:ext cx="105664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400" i="1">
                <a:solidFill>
                  <a:srgbClr val="B8893B"/>
                </a:solidFill>
                <a:latin typeface="Segoe UI" panose="020B0502040204020203" pitchFamily="34" charset="0"/>
              </a:rPr>
              <a:t>São perguntas, não conclusões. Quem sabe a resposta é você.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C946223-A0DE-A4B6-C8B2-C240B897C2B1}"/>
              </a:ext>
            </a:extLst>
          </p:cNvPr>
          <p:cNvSpPr txBox="1"/>
          <p:nvPr/>
        </p:nvSpPr>
        <p:spPr>
          <a:xfrm>
            <a:off x="812800" y="64516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900">
                <a:solidFill>
                  <a:srgbClr val="CFC6B8"/>
                </a:solidFill>
                <a:latin typeface="Segoe UI" panose="020B0502040204020203" pitchFamily="34" charset="0"/>
              </a:rPr>
              <a:t>Diagnóstico gratuito  ·  Projeto AJ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3976DF6-E1C9-97F4-668B-A02D3FA389C2}"/>
              </a:ext>
            </a:extLst>
          </p:cNvPr>
          <p:cNvSpPr txBox="1"/>
          <p:nvPr/>
        </p:nvSpPr>
        <p:spPr>
          <a:xfrm>
            <a:off x="10109200" y="64516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lang="pt-BR" sz="900">
                <a:solidFill>
                  <a:srgbClr val="CFC6B8"/>
                </a:solidFill>
                <a:latin typeface="Segoe UI" panose="020B0502040204020203" pitchFamily="34" charset="0"/>
              </a:rPr>
              <a:t>3 / 13</a:t>
            </a:r>
          </a:p>
        </p:txBody>
      </p:sp>
    </p:spTree>
    <p:extLst>
      <p:ext uri="{BB962C8B-B14F-4D97-AF65-F5344CB8AC3E}">
        <p14:creationId xmlns:p14="http://schemas.microsoft.com/office/powerpoint/2010/main" val="689070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1CD3A86-B653-C3F6-1C98-FECEA22E6B8D}"/>
              </a:ext>
            </a:extLst>
          </p:cNvPr>
          <p:cNvSpPr/>
          <p:nvPr/>
        </p:nvSpPr>
        <p:spPr>
          <a:xfrm>
            <a:off x="812800" y="635000"/>
            <a:ext cx="355600" cy="38100"/>
          </a:xfrm>
          <a:prstGeom prst="rect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C0EABC9-FBF0-BAF6-7D7F-A51A925102CC}"/>
              </a:ext>
            </a:extLst>
          </p:cNvPr>
          <p:cNvSpPr txBox="1"/>
          <p:nvPr/>
        </p:nvSpPr>
        <p:spPr>
          <a:xfrm>
            <a:off x="812800" y="787400"/>
            <a:ext cx="965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100">
                <a:solidFill>
                  <a:srgbClr val="B8893B"/>
                </a:solidFill>
                <a:latin typeface="Segoe UI Semibold" panose="020B0702040204020203" pitchFamily="34" charset="0"/>
              </a:rPr>
              <a:t>UM EXEMPLO DO QUE JÁ É POSSÍVEL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F504F29-B3D4-9F83-DC59-EE0961C75D90}"/>
              </a:ext>
            </a:extLst>
          </p:cNvPr>
          <p:cNvSpPr txBox="1"/>
          <p:nvPr/>
        </p:nvSpPr>
        <p:spPr>
          <a:xfrm>
            <a:off x="812800" y="1066800"/>
            <a:ext cx="105664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000">
                <a:solidFill>
                  <a:srgbClr val="2A2826"/>
                </a:solidFill>
                <a:latin typeface="Georgia" panose="02040502050405020303" pitchFamily="18" charset="0"/>
              </a:rPr>
              <a:t>Imagine uma agenda que se organiza enquanto você corta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D4808FB5-F935-A616-48E0-0400CA8D81E4}"/>
              </a:ext>
            </a:extLst>
          </p:cNvPr>
          <p:cNvCxnSpPr/>
          <p:nvPr/>
        </p:nvCxnSpPr>
        <p:spPr>
          <a:xfrm>
            <a:off x="2133600" y="3200400"/>
            <a:ext cx="7924800" cy="0"/>
          </a:xfrm>
          <a:prstGeom prst="line">
            <a:avLst/>
          </a:prstGeom>
          <a:ln w="25400">
            <a:solidFill>
              <a:srgbClr val="B88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C5940CA2-85D0-49ED-E0F5-4275EAE378A3}"/>
              </a:ext>
            </a:extLst>
          </p:cNvPr>
          <p:cNvSpPr txBox="1"/>
          <p:nvPr/>
        </p:nvSpPr>
        <p:spPr>
          <a:xfrm>
            <a:off x="863600" y="2514600"/>
            <a:ext cx="254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pt-BR" sz="2200">
                <a:solidFill>
                  <a:srgbClr val="B8893B"/>
                </a:solidFill>
                <a:latin typeface="Georgia" panose="02040502050405020303" pitchFamily="18" charset="0"/>
              </a:rPr>
              <a:t>22h47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594D8321-194A-1D22-16FB-B5D6992FF0EE}"/>
              </a:ext>
            </a:extLst>
          </p:cNvPr>
          <p:cNvSpPr/>
          <p:nvPr/>
        </p:nvSpPr>
        <p:spPr>
          <a:xfrm>
            <a:off x="1993900" y="3060700"/>
            <a:ext cx="279400" cy="279400"/>
          </a:xfrm>
          <a:prstGeom prst="ellipse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15BAAEB-1E4A-3DBB-5071-6F9E624FA77A}"/>
              </a:ext>
            </a:extLst>
          </p:cNvPr>
          <p:cNvSpPr txBox="1"/>
          <p:nvPr/>
        </p:nvSpPr>
        <p:spPr>
          <a:xfrm>
            <a:off x="939800" y="3581400"/>
            <a:ext cx="23876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lang="pt-BR" sz="1350">
                <a:solidFill>
                  <a:srgbClr val="2A2826"/>
                </a:solidFill>
                <a:latin typeface="Segoe UI" panose="020B0502040204020203" pitchFamily="34" charset="0"/>
              </a:rPr>
              <a:t>O cliente pede um horário pelo WhatsApp e já recebe os horários livres.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B5B05FC-6E90-B116-9386-E9067D4AC306}"/>
              </a:ext>
            </a:extLst>
          </p:cNvPr>
          <p:cNvSpPr txBox="1"/>
          <p:nvPr/>
        </p:nvSpPr>
        <p:spPr>
          <a:xfrm>
            <a:off x="3505200" y="2514600"/>
            <a:ext cx="254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pt-BR" sz="2200">
                <a:solidFill>
                  <a:srgbClr val="B8893B"/>
                </a:solidFill>
                <a:latin typeface="Georgia" panose="02040502050405020303" pitchFamily="18" charset="0"/>
              </a:rPr>
              <a:t>22h48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695C1865-B257-8725-C724-46B39087CE82}"/>
              </a:ext>
            </a:extLst>
          </p:cNvPr>
          <p:cNvSpPr/>
          <p:nvPr/>
        </p:nvSpPr>
        <p:spPr>
          <a:xfrm>
            <a:off x="4635500" y="3060700"/>
            <a:ext cx="279400" cy="279400"/>
          </a:xfrm>
          <a:prstGeom prst="ellipse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4306007-26C5-637E-B24E-8B5AEEF3321B}"/>
              </a:ext>
            </a:extLst>
          </p:cNvPr>
          <p:cNvSpPr txBox="1"/>
          <p:nvPr/>
        </p:nvSpPr>
        <p:spPr>
          <a:xfrm>
            <a:off x="3581400" y="3581400"/>
            <a:ext cx="23876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lang="pt-BR" sz="1350">
                <a:solidFill>
                  <a:srgbClr val="2A2826"/>
                </a:solidFill>
                <a:latin typeface="Segoe UI" panose="020B0502040204020203" pitchFamily="34" charset="0"/>
              </a:rPr>
              <a:t>Escolhe, confirma e o horário entra na sua agenda.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461F76E-3DA0-FBD9-B799-9A1E946B55BB}"/>
              </a:ext>
            </a:extLst>
          </p:cNvPr>
          <p:cNvSpPr txBox="1"/>
          <p:nvPr/>
        </p:nvSpPr>
        <p:spPr>
          <a:xfrm>
            <a:off x="6146800" y="2514600"/>
            <a:ext cx="254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pt-BR" sz="2200">
                <a:solidFill>
                  <a:srgbClr val="B8893B"/>
                </a:solidFill>
                <a:latin typeface="Georgia" panose="02040502050405020303" pitchFamily="18" charset="0"/>
              </a:rPr>
              <a:t>Na véspera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22C2FB3-EFE6-DA99-9508-67166E2B0903}"/>
              </a:ext>
            </a:extLst>
          </p:cNvPr>
          <p:cNvSpPr/>
          <p:nvPr/>
        </p:nvSpPr>
        <p:spPr>
          <a:xfrm>
            <a:off x="7277100" y="3060700"/>
            <a:ext cx="279400" cy="279400"/>
          </a:xfrm>
          <a:prstGeom prst="ellipse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134A4F4-5A06-3530-93B3-F967BD87E5B7}"/>
              </a:ext>
            </a:extLst>
          </p:cNvPr>
          <p:cNvSpPr txBox="1"/>
          <p:nvPr/>
        </p:nvSpPr>
        <p:spPr>
          <a:xfrm>
            <a:off x="6223000" y="3581400"/>
            <a:ext cx="23876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lang="pt-BR" sz="1350">
                <a:solidFill>
                  <a:srgbClr val="2A2826"/>
                </a:solidFill>
                <a:latin typeface="Segoe UI" panose="020B0502040204020203" pitchFamily="34" charset="0"/>
              </a:rPr>
              <a:t>Recebe um lembrete e confirma que vem.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22AB4C7-27B1-3084-EF15-A25FF193DBCF}"/>
              </a:ext>
            </a:extLst>
          </p:cNvPr>
          <p:cNvSpPr txBox="1"/>
          <p:nvPr/>
        </p:nvSpPr>
        <p:spPr>
          <a:xfrm>
            <a:off x="8788400" y="2514600"/>
            <a:ext cx="254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pt-BR" sz="2200">
                <a:solidFill>
                  <a:srgbClr val="B8893B"/>
                </a:solidFill>
                <a:latin typeface="Georgia" panose="02040502050405020303" pitchFamily="18" charset="0"/>
              </a:rPr>
              <a:t>Imprevisto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00966196-D517-EF57-265D-706A8BB10232}"/>
              </a:ext>
            </a:extLst>
          </p:cNvPr>
          <p:cNvSpPr/>
          <p:nvPr/>
        </p:nvSpPr>
        <p:spPr>
          <a:xfrm>
            <a:off x="9918700" y="3060700"/>
            <a:ext cx="279400" cy="279400"/>
          </a:xfrm>
          <a:prstGeom prst="ellipse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645F29B-FBA0-2E7D-274C-26C88E473491}"/>
              </a:ext>
            </a:extLst>
          </p:cNvPr>
          <p:cNvSpPr txBox="1"/>
          <p:nvPr/>
        </p:nvSpPr>
        <p:spPr>
          <a:xfrm>
            <a:off x="8864600" y="3581400"/>
            <a:ext cx="23876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lang="pt-BR" sz="1350">
                <a:solidFill>
                  <a:srgbClr val="2A2826"/>
                </a:solidFill>
                <a:latin typeface="Segoe UI" panose="020B0502040204020203" pitchFamily="34" charset="0"/>
              </a:rPr>
              <a:t>Se desmarcar, o horário volta a ficar livre para outro cliente.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FBE61DE-0EA1-FC29-BD0F-3F16E6160062}"/>
              </a:ext>
            </a:extLst>
          </p:cNvPr>
          <p:cNvSpPr/>
          <p:nvPr/>
        </p:nvSpPr>
        <p:spPr>
          <a:xfrm>
            <a:off x="812800" y="5257800"/>
            <a:ext cx="10566400" cy="812800"/>
          </a:xfrm>
          <a:prstGeom prst="rect">
            <a:avLst/>
          </a:prstGeom>
          <a:solidFill>
            <a:srgbClr val="E8DF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6B417E5-69DE-D0EF-1078-572A1EE80D94}"/>
              </a:ext>
            </a:extLst>
          </p:cNvPr>
          <p:cNvSpPr txBox="1"/>
          <p:nvPr/>
        </p:nvSpPr>
        <p:spPr>
          <a:xfrm>
            <a:off x="1117600" y="5257800"/>
            <a:ext cx="10033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300">
                <a:solidFill>
                  <a:srgbClr val="2A2826"/>
                </a:solidFill>
                <a:latin typeface="Segoe UI" panose="020B0502040204020203" pitchFamily="34" charset="0"/>
              </a:rPr>
              <a:t>Exemplo ilustrativo. A solução certa, com ou sem IA, só aparece depois de entender a sua rotina. As exceções e decisões continuam com você.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22CB9EE-0A83-A021-B579-7511F6AD356F}"/>
              </a:ext>
            </a:extLst>
          </p:cNvPr>
          <p:cNvSpPr txBox="1"/>
          <p:nvPr/>
        </p:nvSpPr>
        <p:spPr>
          <a:xfrm>
            <a:off x="812800" y="64516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900">
                <a:solidFill>
                  <a:srgbClr val="6B6660"/>
                </a:solidFill>
                <a:latin typeface="Segoe UI" panose="020B0502040204020203" pitchFamily="34" charset="0"/>
              </a:rPr>
              <a:t>Diagnóstico gratuito  ·  Projeto AJ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39C2FD4-D235-37E5-9D5B-51EA413CF948}"/>
              </a:ext>
            </a:extLst>
          </p:cNvPr>
          <p:cNvSpPr txBox="1"/>
          <p:nvPr/>
        </p:nvSpPr>
        <p:spPr>
          <a:xfrm>
            <a:off x="10109200" y="64516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lang="pt-BR" sz="900">
                <a:solidFill>
                  <a:srgbClr val="6B6660"/>
                </a:solidFill>
                <a:latin typeface="Segoe UI" panose="020B0502040204020203" pitchFamily="34" charset="0"/>
              </a:rPr>
              <a:t>4 / 13</a:t>
            </a:r>
          </a:p>
        </p:txBody>
      </p:sp>
    </p:spTree>
    <p:extLst>
      <p:ext uri="{BB962C8B-B14F-4D97-AF65-F5344CB8AC3E}">
        <p14:creationId xmlns:p14="http://schemas.microsoft.com/office/powerpoint/2010/main" val="3504386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02CEC38-8495-C2F5-29A1-D598D269F21E}"/>
              </a:ext>
            </a:extLst>
          </p:cNvPr>
          <p:cNvSpPr/>
          <p:nvPr/>
        </p:nvSpPr>
        <p:spPr>
          <a:xfrm>
            <a:off x="812800" y="635000"/>
            <a:ext cx="355600" cy="38100"/>
          </a:xfrm>
          <a:prstGeom prst="rect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27E0078-07C2-A71A-4846-CD187B28E82D}"/>
              </a:ext>
            </a:extLst>
          </p:cNvPr>
          <p:cNvSpPr txBox="1"/>
          <p:nvPr/>
        </p:nvSpPr>
        <p:spPr>
          <a:xfrm>
            <a:off x="812800" y="787400"/>
            <a:ext cx="965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100">
                <a:solidFill>
                  <a:srgbClr val="B8893B"/>
                </a:solidFill>
                <a:latin typeface="Segoe UI Semibold" panose="020B0702040204020203" pitchFamily="34" charset="0"/>
              </a:rPr>
              <a:t>POR QUE COMEÇAR PELO DIAGNÓSTICO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EEE1CCF-73A7-6944-C08A-833573F6E3F4}"/>
              </a:ext>
            </a:extLst>
          </p:cNvPr>
          <p:cNvSpPr txBox="1"/>
          <p:nvPr/>
        </p:nvSpPr>
        <p:spPr>
          <a:xfrm>
            <a:off x="812800" y="1066800"/>
            <a:ext cx="105664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000">
                <a:solidFill>
                  <a:srgbClr val="2A2826"/>
                </a:solidFill>
                <a:latin typeface="Georgia" panose="02040502050405020303" pitchFamily="18" charset="0"/>
              </a:rPr>
              <a:t>Antes da ferramenta, entender o seu jeito de trabalhar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D210F16-1404-F1B8-CE80-E7CCF4F7F0FA}"/>
              </a:ext>
            </a:extLst>
          </p:cNvPr>
          <p:cNvSpPr/>
          <p:nvPr/>
        </p:nvSpPr>
        <p:spPr>
          <a:xfrm>
            <a:off x="812800" y="2362200"/>
            <a:ext cx="50800" cy="660400"/>
          </a:xfrm>
          <a:prstGeom prst="rect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6108D40-00F6-58E0-01EE-64148D3094F1}"/>
              </a:ext>
            </a:extLst>
          </p:cNvPr>
          <p:cNvSpPr txBox="1"/>
          <p:nvPr/>
        </p:nvSpPr>
        <p:spPr>
          <a:xfrm>
            <a:off x="1092200" y="2362200"/>
            <a:ext cx="101600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05000"/>
              </a:lnSpc>
            </a:pPr>
            <a:r>
              <a:rPr lang="pt-BR" sz="2200" i="1">
                <a:solidFill>
                  <a:srgbClr val="2A2826"/>
                </a:solidFill>
                <a:latin typeface="Georgia" panose="02040502050405020303" pitchFamily="18" charset="0"/>
              </a:rPr>
              <a:t>Automatizar uma rotina confusa só deixa a confusão mais rápida.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074A56B-A41D-DC0B-10AD-40FA267232CB}"/>
              </a:ext>
            </a:extLst>
          </p:cNvPr>
          <p:cNvSpPr/>
          <p:nvPr/>
        </p:nvSpPr>
        <p:spPr>
          <a:xfrm>
            <a:off x="812800" y="3505200"/>
            <a:ext cx="3314700" cy="12700"/>
          </a:xfrm>
          <a:prstGeom prst="rect">
            <a:avLst/>
          </a:prstGeom>
          <a:solidFill>
            <a:srgbClr val="DDD3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1759E16-2F67-F849-C479-5CA53D242EDB}"/>
              </a:ext>
            </a:extLst>
          </p:cNvPr>
          <p:cNvSpPr txBox="1"/>
          <p:nvPr/>
        </p:nvSpPr>
        <p:spPr>
          <a:xfrm>
            <a:off x="812800" y="3708400"/>
            <a:ext cx="1016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2000">
                <a:solidFill>
                  <a:srgbClr val="B8893B"/>
                </a:solidFill>
                <a:latin typeface="Georgia" panose="02040502050405020303" pitchFamily="18" charset="0"/>
              </a:rPr>
              <a:t>01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B274B43-0400-5019-CB07-C1A5911DCA03}"/>
              </a:ext>
            </a:extLst>
          </p:cNvPr>
          <p:cNvSpPr txBox="1"/>
          <p:nvPr/>
        </p:nvSpPr>
        <p:spPr>
          <a:xfrm>
            <a:off x="812800" y="4140200"/>
            <a:ext cx="3175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600">
                <a:solidFill>
                  <a:srgbClr val="2A2826"/>
                </a:solidFill>
                <a:latin typeface="Segoe UI Semibold" panose="020B0702040204020203" pitchFamily="34" charset="0"/>
              </a:rPr>
              <a:t>Cada barbearia é única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A5CCE87-03BF-D266-0BF7-12608727B294}"/>
              </a:ext>
            </a:extLst>
          </p:cNvPr>
          <p:cNvSpPr txBox="1"/>
          <p:nvPr/>
        </p:nvSpPr>
        <p:spPr>
          <a:xfrm>
            <a:off x="812800" y="4800600"/>
            <a:ext cx="3175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1300">
                <a:solidFill>
                  <a:srgbClr val="6B6660"/>
                </a:solidFill>
                <a:latin typeface="Segoe UI" panose="020B0502040204020203" pitchFamily="34" charset="0"/>
              </a:rPr>
              <a:t>Clientela, equipe, horários e jeito de atender mudam tudo.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19A6223-9BE9-A99E-B238-C2CA32070701}"/>
              </a:ext>
            </a:extLst>
          </p:cNvPr>
          <p:cNvSpPr/>
          <p:nvPr/>
        </p:nvSpPr>
        <p:spPr>
          <a:xfrm>
            <a:off x="4432300" y="3505200"/>
            <a:ext cx="3314700" cy="12700"/>
          </a:xfrm>
          <a:prstGeom prst="rect">
            <a:avLst/>
          </a:prstGeom>
          <a:solidFill>
            <a:srgbClr val="DDD3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85F05D0-5515-FF09-F9A9-ED0BF811F045}"/>
              </a:ext>
            </a:extLst>
          </p:cNvPr>
          <p:cNvSpPr txBox="1"/>
          <p:nvPr/>
        </p:nvSpPr>
        <p:spPr>
          <a:xfrm>
            <a:off x="4432300" y="3708400"/>
            <a:ext cx="1016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2000">
                <a:solidFill>
                  <a:srgbClr val="B8893B"/>
                </a:solidFill>
                <a:latin typeface="Georgia" panose="02040502050405020303" pitchFamily="18" charset="0"/>
              </a:rPr>
              <a:t>02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47A0102-60D4-C6FE-315C-11EF1DF48F95}"/>
              </a:ext>
            </a:extLst>
          </p:cNvPr>
          <p:cNvSpPr txBox="1"/>
          <p:nvPr/>
        </p:nvSpPr>
        <p:spPr>
          <a:xfrm>
            <a:off x="4432300" y="4140200"/>
            <a:ext cx="3175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600">
                <a:solidFill>
                  <a:srgbClr val="2A2826"/>
                </a:solidFill>
                <a:latin typeface="Segoe UI Semibold" panose="020B0702040204020203" pitchFamily="34" charset="0"/>
              </a:rPr>
              <a:t>O que mais pesa nem sempre é o que parece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C59A2CF-DED6-9AF7-21C1-8C41BB502CDE}"/>
              </a:ext>
            </a:extLst>
          </p:cNvPr>
          <p:cNvSpPr txBox="1"/>
          <p:nvPr/>
        </p:nvSpPr>
        <p:spPr>
          <a:xfrm>
            <a:off x="4432300" y="4800600"/>
            <a:ext cx="3175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1300">
                <a:solidFill>
                  <a:srgbClr val="6B6660"/>
                </a:solidFill>
                <a:latin typeface="Segoe UI" panose="020B0502040204020203" pitchFamily="34" charset="0"/>
              </a:rPr>
              <a:t>Às vezes o problema está na agenda, às vezes nas faltas, às vezes em outro lugar.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8BD166A-6862-2944-D99B-DB96AAC50CA4}"/>
              </a:ext>
            </a:extLst>
          </p:cNvPr>
          <p:cNvSpPr/>
          <p:nvPr/>
        </p:nvSpPr>
        <p:spPr>
          <a:xfrm>
            <a:off x="8051800" y="3505200"/>
            <a:ext cx="3314700" cy="12700"/>
          </a:xfrm>
          <a:prstGeom prst="rect">
            <a:avLst/>
          </a:prstGeom>
          <a:solidFill>
            <a:srgbClr val="DDD3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D01D649-71F8-91A3-2923-5DE47B77A227}"/>
              </a:ext>
            </a:extLst>
          </p:cNvPr>
          <p:cNvSpPr txBox="1"/>
          <p:nvPr/>
        </p:nvSpPr>
        <p:spPr>
          <a:xfrm>
            <a:off x="8051800" y="3708400"/>
            <a:ext cx="1016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2000">
                <a:solidFill>
                  <a:srgbClr val="B8893B"/>
                </a:solidFill>
                <a:latin typeface="Georgia" panose="02040502050405020303" pitchFamily="18" charset="0"/>
              </a:rPr>
              <a:t>03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61159B9-BD64-1349-8E41-5643A720415C}"/>
              </a:ext>
            </a:extLst>
          </p:cNvPr>
          <p:cNvSpPr txBox="1"/>
          <p:nvPr/>
        </p:nvSpPr>
        <p:spPr>
          <a:xfrm>
            <a:off x="8051800" y="4140200"/>
            <a:ext cx="3175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600">
                <a:solidFill>
                  <a:srgbClr val="2A2826"/>
                </a:solidFill>
                <a:latin typeface="Segoe UI Semibold" panose="020B0702040204020203" pitchFamily="34" charset="0"/>
              </a:rPr>
              <a:t>Sem medir o antes, não dá para provar o depois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CFB34CB-E936-9446-3768-15C02D0EA0F3}"/>
              </a:ext>
            </a:extLst>
          </p:cNvPr>
          <p:cNvSpPr txBox="1"/>
          <p:nvPr/>
        </p:nvSpPr>
        <p:spPr>
          <a:xfrm>
            <a:off x="8051800" y="4800600"/>
            <a:ext cx="3175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1300">
                <a:solidFill>
                  <a:srgbClr val="6B6660"/>
                </a:solidFill>
                <a:latin typeface="Segoe UI" panose="020B0502040204020203" pitchFamily="34" charset="0"/>
              </a:rPr>
              <a:t>Por isso começamos olhando como funciona hoje.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C015F8B-6E85-4488-A0FF-1FCF8132BA59}"/>
              </a:ext>
            </a:extLst>
          </p:cNvPr>
          <p:cNvSpPr txBox="1"/>
          <p:nvPr/>
        </p:nvSpPr>
        <p:spPr>
          <a:xfrm>
            <a:off x="812800" y="64516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900">
                <a:solidFill>
                  <a:srgbClr val="6B6660"/>
                </a:solidFill>
                <a:latin typeface="Segoe UI" panose="020B0502040204020203" pitchFamily="34" charset="0"/>
              </a:rPr>
              <a:t>Diagnóstico gratuito  ·  Projeto AJ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B341342-3176-BEF5-0246-1344367A5104}"/>
              </a:ext>
            </a:extLst>
          </p:cNvPr>
          <p:cNvSpPr txBox="1"/>
          <p:nvPr/>
        </p:nvSpPr>
        <p:spPr>
          <a:xfrm>
            <a:off x="10109200" y="64516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lang="pt-BR" sz="900">
                <a:solidFill>
                  <a:srgbClr val="6B6660"/>
                </a:solidFill>
                <a:latin typeface="Segoe UI" panose="020B0502040204020203" pitchFamily="34" charset="0"/>
              </a:rPr>
              <a:t>5 / 13</a:t>
            </a:r>
          </a:p>
        </p:txBody>
      </p:sp>
    </p:spTree>
    <p:extLst>
      <p:ext uri="{BB962C8B-B14F-4D97-AF65-F5344CB8AC3E}">
        <p14:creationId xmlns:p14="http://schemas.microsoft.com/office/powerpoint/2010/main" val="642435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B73080B-44F1-DD68-8B5E-94EE53A4F6AB}"/>
              </a:ext>
            </a:extLst>
          </p:cNvPr>
          <p:cNvSpPr/>
          <p:nvPr/>
        </p:nvSpPr>
        <p:spPr>
          <a:xfrm>
            <a:off x="812800" y="635000"/>
            <a:ext cx="355600" cy="38100"/>
          </a:xfrm>
          <a:prstGeom prst="rect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A8C66BE-1601-0802-0C81-8DACFAFDD191}"/>
              </a:ext>
            </a:extLst>
          </p:cNvPr>
          <p:cNvSpPr txBox="1"/>
          <p:nvPr/>
        </p:nvSpPr>
        <p:spPr>
          <a:xfrm>
            <a:off x="812800" y="787400"/>
            <a:ext cx="965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100">
                <a:solidFill>
                  <a:srgbClr val="B8893B"/>
                </a:solidFill>
                <a:latin typeface="Segoe UI Semibold" panose="020B0702040204020203" pitchFamily="34" charset="0"/>
              </a:rPr>
              <a:t>A PROPOSTA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DB12B91-5027-0BEB-2FB2-F50CE5B0E0C0}"/>
              </a:ext>
            </a:extLst>
          </p:cNvPr>
          <p:cNvSpPr txBox="1"/>
          <p:nvPr/>
        </p:nvSpPr>
        <p:spPr>
          <a:xfrm>
            <a:off x="812800" y="1066800"/>
            <a:ext cx="10566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200">
                <a:solidFill>
                  <a:srgbClr val="F3EDE3"/>
                </a:solidFill>
                <a:latin typeface="Georgia" panose="02040502050405020303" pitchFamily="18" charset="0"/>
              </a:rPr>
              <a:t>Um diagnóstico gratuito, em três passos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B887FBA-A3F8-E4A4-4DAC-9DC853B90A7A}"/>
              </a:ext>
            </a:extLst>
          </p:cNvPr>
          <p:cNvSpPr txBox="1"/>
          <p:nvPr/>
        </p:nvSpPr>
        <p:spPr>
          <a:xfrm>
            <a:off x="812800" y="2133600"/>
            <a:ext cx="1143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6400">
                <a:solidFill>
                  <a:srgbClr val="B8893B"/>
                </a:solidFill>
                <a:latin typeface="Georgia" panose="02040502050405020303" pitchFamily="18" charset="0"/>
              </a:rPr>
              <a:t>1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79FAB7C-355A-76A9-251D-F53DD6CD1467}"/>
              </a:ext>
            </a:extLst>
          </p:cNvPr>
          <p:cNvSpPr txBox="1"/>
          <p:nvPr/>
        </p:nvSpPr>
        <p:spPr>
          <a:xfrm>
            <a:off x="812800" y="3327400"/>
            <a:ext cx="3175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2000">
                <a:solidFill>
                  <a:srgbClr val="F3EDE3"/>
                </a:solidFill>
                <a:latin typeface="Segoe UI Semibold" panose="020B0702040204020203" pitchFamily="34" charset="0"/>
              </a:rPr>
              <a:t>Conversa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A263CE7-024A-9DF6-CD1F-8FCF0D087F33}"/>
              </a:ext>
            </a:extLst>
          </p:cNvPr>
          <p:cNvSpPr txBox="1"/>
          <p:nvPr/>
        </p:nvSpPr>
        <p:spPr>
          <a:xfrm>
            <a:off x="812800" y="3784600"/>
            <a:ext cx="3048000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1400">
                <a:solidFill>
                  <a:srgbClr val="CFC6B8"/>
                </a:solidFill>
                <a:latin typeface="Segoe UI" panose="020B0502040204020203" pitchFamily="34" charset="0"/>
              </a:rPr>
              <a:t>Hoje, cerca de 30 minutos. Você me conta como é a rotina.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2DFE72D-BB8A-0506-C73E-91F4273AD5A1}"/>
              </a:ext>
            </a:extLst>
          </p:cNvPr>
          <p:cNvSpPr txBox="1"/>
          <p:nvPr/>
        </p:nvSpPr>
        <p:spPr>
          <a:xfrm>
            <a:off x="4432300" y="2133600"/>
            <a:ext cx="1143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6400">
                <a:solidFill>
                  <a:srgbClr val="B8893B"/>
                </a:solidFill>
                <a:latin typeface="Georgia" panose="02040502050405020303" pitchFamily="18" charset="0"/>
              </a:rPr>
              <a:t>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578D143-5825-CC85-7B30-9736848D31B0}"/>
              </a:ext>
            </a:extLst>
          </p:cNvPr>
          <p:cNvSpPr txBox="1"/>
          <p:nvPr/>
        </p:nvSpPr>
        <p:spPr>
          <a:xfrm>
            <a:off x="4432300" y="3327400"/>
            <a:ext cx="3175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2000">
                <a:solidFill>
                  <a:srgbClr val="F3EDE3"/>
                </a:solidFill>
                <a:latin typeface="Segoe UI Semibold" panose="020B0702040204020203" pitchFamily="34" charset="0"/>
              </a:rPr>
              <a:t>Acompanhar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3AE73E9-C5AE-438D-8793-89EE74589758}"/>
              </a:ext>
            </a:extLst>
          </p:cNvPr>
          <p:cNvSpPr txBox="1"/>
          <p:nvPr/>
        </p:nvSpPr>
        <p:spPr>
          <a:xfrm>
            <a:off x="4432300" y="3784600"/>
            <a:ext cx="3048000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1400">
                <a:solidFill>
                  <a:srgbClr val="CFC6B8"/>
                </a:solidFill>
                <a:latin typeface="Segoe UI" panose="020B0502040204020203" pitchFamily="34" charset="0"/>
              </a:rPr>
              <a:t>Um recorte pequeno do dia a dia, no dia e horário que você escolher.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9F71B85-3810-FBB6-CC9B-F9FF26B2805A}"/>
              </a:ext>
            </a:extLst>
          </p:cNvPr>
          <p:cNvSpPr txBox="1"/>
          <p:nvPr/>
        </p:nvSpPr>
        <p:spPr>
          <a:xfrm>
            <a:off x="8051800" y="2133600"/>
            <a:ext cx="1143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6400">
                <a:solidFill>
                  <a:srgbClr val="B8893B"/>
                </a:solidFill>
                <a:latin typeface="Georgia" panose="02040502050405020303" pitchFamily="18" charset="0"/>
              </a:rPr>
              <a:t>3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98CD356-99B5-EDA4-56A4-FC052EDE229F}"/>
              </a:ext>
            </a:extLst>
          </p:cNvPr>
          <p:cNvSpPr txBox="1"/>
          <p:nvPr/>
        </p:nvSpPr>
        <p:spPr>
          <a:xfrm>
            <a:off x="8051800" y="3327400"/>
            <a:ext cx="3175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2000">
                <a:solidFill>
                  <a:srgbClr val="F3EDE3"/>
                </a:solidFill>
                <a:latin typeface="Segoe UI Semibold" panose="020B0702040204020203" pitchFamily="34" charset="0"/>
              </a:rPr>
              <a:t>Devolutiva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8B542CF-EE6A-E0A7-2A35-8B1D627C75C1}"/>
              </a:ext>
            </a:extLst>
          </p:cNvPr>
          <p:cNvSpPr txBox="1"/>
          <p:nvPr/>
        </p:nvSpPr>
        <p:spPr>
          <a:xfrm>
            <a:off x="8051800" y="3784600"/>
            <a:ext cx="3048000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1400">
                <a:solidFill>
                  <a:srgbClr val="CFC6B8"/>
                </a:solidFill>
                <a:latin typeface="Segoe UI" panose="020B0502040204020203" pitchFamily="34" charset="0"/>
              </a:rPr>
              <a:t>Mostro o que vimos, o que vale medir e o que eu recomendaria.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C6A3AA0-47ED-E33F-0E54-5361B0CBDBC8}"/>
              </a:ext>
            </a:extLst>
          </p:cNvPr>
          <p:cNvSpPr/>
          <p:nvPr/>
        </p:nvSpPr>
        <p:spPr>
          <a:xfrm>
            <a:off x="812800" y="5435600"/>
            <a:ext cx="10566400" cy="609600"/>
          </a:xfrm>
          <a:prstGeom prst="rect">
            <a:avLst/>
          </a:prstGeom>
          <a:solidFill>
            <a:srgbClr val="2A28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C638BA8-DA7B-13B0-C4E7-1C238A336705}"/>
              </a:ext>
            </a:extLst>
          </p:cNvPr>
          <p:cNvSpPr txBox="1"/>
          <p:nvPr/>
        </p:nvSpPr>
        <p:spPr>
          <a:xfrm>
            <a:off x="812800" y="5435600"/>
            <a:ext cx="105664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pt-BR" sz="1400">
                <a:solidFill>
                  <a:srgbClr val="B8893B"/>
                </a:solidFill>
                <a:latin typeface="Segoe UI Semibold" panose="020B0702040204020203" pitchFamily="34" charset="0"/>
              </a:rPr>
              <a:t>Sem custo   ·   Sem compromisso de contratar   ·   Datas combinadas com você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F5B3537-516D-018C-757B-2576B540FB9C}"/>
              </a:ext>
            </a:extLst>
          </p:cNvPr>
          <p:cNvSpPr txBox="1"/>
          <p:nvPr/>
        </p:nvSpPr>
        <p:spPr>
          <a:xfrm>
            <a:off x="812800" y="64516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900">
                <a:solidFill>
                  <a:srgbClr val="CFC6B8"/>
                </a:solidFill>
                <a:latin typeface="Segoe UI" panose="020B0502040204020203" pitchFamily="34" charset="0"/>
              </a:rPr>
              <a:t>Diagnóstico gratuito  ·  Projeto AJ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A97AD61-891F-2387-4C02-57D407F12B4C}"/>
              </a:ext>
            </a:extLst>
          </p:cNvPr>
          <p:cNvSpPr txBox="1"/>
          <p:nvPr/>
        </p:nvSpPr>
        <p:spPr>
          <a:xfrm>
            <a:off x="10109200" y="64516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lang="pt-BR" sz="900">
                <a:solidFill>
                  <a:srgbClr val="CFC6B8"/>
                </a:solidFill>
                <a:latin typeface="Segoe UI" panose="020B0502040204020203" pitchFamily="34" charset="0"/>
              </a:rPr>
              <a:t>6 / 13</a:t>
            </a:r>
          </a:p>
        </p:txBody>
      </p:sp>
    </p:spTree>
    <p:extLst>
      <p:ext uri="{BB962C8B-B14F-4D97-AF65-F5344CB8AC3E}">
        <p14:creationId xmlns:p14="http://schemas.microsoft.com/office/powerpoint/2010/main" val="1768651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94B38EA-7DFB-9A5F-5B9F-463B8D023FF9}"/>
              </a:ext>
            </a:extLst>
          </p:cNvPr>
          <p:cNvSpPr/>
          <p:nvPr/>
        </p:nvSpPr>
        <p:spPr>
          <a:xfrm>
            <a:off x="812800" y="635000"/>
            <a:ext cx="355600" cy="38100"/>
          </a:xfrm>
          <a:prstGeom prst="rect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7B7D806-E1B2-AECD-E18D-19425973005C}"/>
              </a:ext>
            </a:extLst>
          </p:cNvPr>
          <p:cNvSpPr txBox="1"/>
          <p:nvPr/>
        </p:nvSpPr>
        <p:spPr>
          <a:xfrm>
            <a:off x="812800" y="787400"/>
            <a:ext cx="965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100">
                <a:solidFill>
                  <a:srgbClr val="B8893B"/>
                </a:solidFill>
                <a:latin typeface="Segoe UI Semibold" panose="020B0702040204020203" pitchFamily="34" charset="0"/>
              </a:rPr>
              <a:t>O QUE VOCÊ RECEBE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E732B6D-4DAE-D2F1-3987-6C08AC2F9B46}"/>
              </a:ext>
            </a:extLst>
          </p:cNvPr>
          <p:cNvSpPr txBox="1"/>
          <p:nvPr/>
        </p:nvSpPr>
        <p:spPr>
          <a:xfrm>
            <a:off x="812800" y="1066800"/>
            <a:ext cx="105664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000">
                <a:solidFill>
                  <a:srgbClr val="2A2826"/>
                </a:solidFill>
                <a:latin typeface="Georgia" panose="02040502050405020303" pitchFamily="18" charset="0"/>
              </a:rPr>
              <a:t>O que você leva do diagnóstico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3E25B09-0957-58BB-D98C-05D67FA954B8}"/>
              </a:ext>
            </a:extLst>
          </p:cNvPr>
          <p:cNvSpPr/>
          <p:nvPr/>
        </p:nvSpPr>
        <p:spPr>
          <a:xfrm>
            <a:off x="812800" y="2362200"/>
            <a:ext cx="5130800" cy="12700"/>
          </a:xfrm>
          <a:prstGeom prst="rect">
            <a:avLst/>
          </a:prstGeom>
          <a:solidFill>
            <a:srgbClr val="DDD3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B74FF85-4DCC-FFEB-863E-6EED6B94617C}"/>
              </a:ext>
            </a:extLst>
          </p:cNvPr>
          <p:cNvSpPr/>
          <p:nvPr/>
        </p:nvSpPr>
        <p:spPr>
          <a:xfrm>
            <a:off x="812800" y="2641600"/>
            <a:ext cx="152400" cy="152400"/>
          </a:xfrm>
          <a:prstGeom prst="rect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48AF20F-0914-3F7E-A873-9AE2DBC1929E}"/>
              </a:ext>
            </a:extLst>
          </p:cNvPr>
          <p:cNvSpPr txBox="1"/>
          <p:nvPr/>
        </p:nvSpPr>
        <p:spPr>
          <a:xfrm>
            <a:off x="1143000" y="2565400"/>
            <a:ext cx="4699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700">
                <a:solidFill>
                  <a:srgbClr val="2A2826"/>
                </a:solidFill>
                <a:latin typeface="Segoe UI Semibold" panose="020B0702040204020203" pitchFamily="34" charset="0"/>
              </a:rPr>
              <a:t>O mapa da sua rotina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5230C32-798E-1D11-9A87-333BD1DD6F75}"/>
              </a:ext>
            </a:extLst>
          </p:cNvPr>
          <p:cNvSpPr txBox="1"/>
          <p:nvPr/>
        </p:nvSpPr>
        <p:spPr>
          <a:xfrm>
            <a:off x="1143000" y="2971800"/>
            <a:ext cx="4699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1350">
                <a:solidFill>
                  <a:srgbClr val="6B6660"/>
                </a:solidFill>
                <a:latin typeface="Segoe UI" panose="020B0502040204020203" pitchFamily="34" charset="0"/>
              </a:rPr>
              <a:t>Como o cliente chega, marca, é atendido e volta, tudo no papel.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BDA3AF9-10AE-6AA6-BC83-C6CDB5B9F174}"/>
              </a:ext>
            </a:extLst>
          </p:cNvPr>
          <p:cNvSpPr/>
          <p:nvPr/>
        </p:nvSpPr>
        <p:spPr>
          <a:xfrm>
            <a:off x="6248400" y="2362200"/>
            <a:ext cx="5130800" cy="12700"/>
          </a:xfrm>
          <a:prstGeom prst="rect">
            <a:avLst/>
          </a:prstGeom>
          <a:solidFill>
            <a:srgbClr val="DDD3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14DBD96-CA7A-7001-035B-731069DFFE2D}"/>
              </a:ext>
            </a:extLst>
          </p:cNvPr>
          <p:cNvSpPr/>
          <p:nvPr/>
        </p:nvSpPr>
        <p:spPr>
          <a:xfrm>
            <a:off x="6248400" y="2641600"/>
            <a:ext cx="152400" cy="152400"/>
          </a:xfrm>
          <a:prstGeom prst="rect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D6F5AD8-D1D4-DBF1-C91C-81937826A3C8}"/>
              </a:ext>
            </a:extLst>
          </p:cNvPr>
          <p:cNvSpPr txBox="1"/>
          <p:nvPr/>
        </p:nvSpPr>
        <p:spPr>
          <a:xfrm>
            <a:off x="6578600" y="2565400"/>
            <a:ext cx="4699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700">
                <a:solidFill>
                  <a:srgbClr val="2A2826"/>
                </a:solidFill>
                <a:latin typeface="Segoe UI Semibold" panose="020B0702040204020203" pitchFamily="34" charset="0"/>
              </a:rPr>
              <a:t>Onde tempo e clientes escapam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F9BCF05-1921-9D7A-69B9-A2A6310EF419}"/>
              </a:ext>
            </a:extLst>
          </p:cNvPr>
          <p:cNvSpPr txBox="1"/>
          <p:nvPr/>
        </p:nvSpPr>
        <p:spPr>
          <a:xfrm>
            <a:off x="6578600" y="2971800"/>
            <a:ext cx="4699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1350">
                <a:solidFill>
                  <a:srgbClr val="6B6660"/>
                </a:solidFill>
                <a:latin typeface="Segoe UI" panose="020B0502040204020203" pitchFamily="34" charset="0"/>
              </a:rPr>
              <a:t>Separando o que vimos acontecer do que só foi comentado.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1F99017-13EA-2526-5E64-8E214515D502}"/>
              </a:ext>
            </a:extLst>
          </p:cNvPr>
          <p:cNvSpPr/>
          <p:nvPr/>
        </p:nvSpPr>
        <p:spPr>
          <a:xfrm>
            <a:off x="812800" y="4089400"/>
            <a:ext cx="5130800" cy="12700"/>
          </a:xfrm>
          <a:prstGeom prst="rect">
            <a:avLst/>
          </a:prstGeom>
          <a:solidFill>
            <a:srgbClr val="DDD3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30A8267-48DA-FCFA-7B42-F2B89E56CB24}"/>
              </a:ext>
            </a:extLst>
          </p:cNvPr>
          <p:cNvSpPr/>
          <p:nvPr/>
        </p:nvSpPr>
        <p:spPr>
          <a:xfrm>
            <a:off x="812800" y="4368800"/>
            <a:ext cx="152400" cy="152400"/>
          </a:xfrm>
          <a:prstGeom prst="rect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C89052D-AF2E-80DD-B1F1-7765821B0DEF}"/>
              </a:ext>
            </a:extLst>
          </p:cNvPr>
          <p:cNvSpPr txBox="1"/>
          <p:nvPr/>
        </p:nvSpPr>
        <p:spPr>
          <a:xfrm>
            <a:off x="1143000" y="4292600"/>
            <a:ext cx="4699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700">
                <a:solidFill>
                  <a:srgbClr val="2A2826"/>
                </a:solidFill>
                <a:latin typeface="Segoe UI Semibold" panose="020B0702040204020203" pitchFamily="34" charset="0"/>
              </a:rPr>
              <a:t>Como medir o antes e o depois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178E502-2CEC-B7E2-233A-41E320DF1A82}"/>
              </a:ext>
            </a:extLst>
          </p:cNvPr>
          <p:cNvSpPr txBox="1"/>
          <p:nvPr/>
        </p:nvSpPr>
        <p:spPr>
          <a:xfrm>
            <a:off x="1143000" y="4699000"/>
            <a:ext cx="4699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1350">
                <a:solidFill>
                  <a:srgbClr val="6B6660"/>
                </a:solidFill>
                <a:latin typeface="Segoe UI" panose="020B0502040204020203" pitchFamily="34" charset="0"/>
              </a:rPr>
              <a:t>Poucas medidas simples, escolhidas por você.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6B9007D2-F4D2-E36F-CB3C-ADAFD108ECD0}"/>
              </a:ext>
            </a:extLst>
          </p:cNvPr>
          <p:cNvSpPr/>
          <p:nvPr/>
        </p:nvSpPr>
        <p:spPr>
          <a:xfrm>
            <a:off x="6248400" y="4089400"/>
            <a:ext cx="5130800" cy="12700"/>
          </a:xfrm>
          <a:prstGeom prst="rect">
            <a:avLst/>
          </a:prstGeom>
          <a:solidFill>
            <a:srgbClr val="DDD3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167560E0-E7C0-5DB8-A63A-D909C140EFD5}"/>
              </a:ext>
            </a:extLst>
          </p:cNvPr>
          <p:cNvSpPr/>
          <p:nvPr/>
        </p:nvSpPr>
        <p:spPr>
          <a:xfrm>
            <a:off x="6248400" y="4368800"/>
            <a:ext cx="152400" cy="152400"/>
          </a:xfrm>
          <a:prstGeom prst="rect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DC9F34C-944E-6CC0-C421-7CE0E85DF4BA}"/>
              </a:ext>
            </a:extLst>
          </p:cNvPr>
          <p:cNvSpPr txBox="1"/>
          <p:nvPr/>
        </p:nvSpPr>
        <p:spPr>
          <a:xfrm>
            <a:off x="6578600" y="4292600"/>
            <a:ext cx="4699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700">
                <a:solidFill>
                  <a:srgbClr val="2A2826"/>
                </a:solidFill>
                <a:latin typeface="Segoe UI Semibold" panose="020B0702040204020203" pitchFamily="34" charset="0"/>
              </a:rPr>
              <a:t>Uma recomendação honesta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C97DCCF-93C7-44AF-7FB6-A2FC220E3087}"/>
              </a:ext>
            </a:extLst>
          </p:cNvPr>
          <p:cNvSpPr txBox="1"/>
          <p:nvPr/>
        </p:nvSpPr>
        <p:spPr>
          <a:xfrm>
            <a:off x="6578600" y="4699000"/>
            <a:ext cx="4699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1350">
                <a:solidFill>
                  <a:srgbClr val="6B6660"/>
                </a:solidFill>
                <a:latin typeface="Segoe UI" panose="020B0502040204020203" pitchFamily="34" charset="0"/>
              </a:rPr>
              <a:t>O próximo passo e o esforço estimado. Pode ser algo simples, até sem IA.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2331AB8-1240-D362-8D82-34BE67D685B1}"/>
              </a:ext>
            </a:extLst>
          </p:cNvPr>
          <p:cNvSpPr txBox="1"/>
          <p:nvPr/>
        </p:nvSpPr>
        <p:spPr>
          <a:xfrm>
            <a:off x="812800" y="64516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900">
                <a:solidFill>
                  <a:srgbClr val="6B6660"/>
                </a:solidFill>
                <a:latin typeface="Segoe UI" panose="020B0502040204020203" pitchFamily="34" charset="0"/>
              </a:rPr>
              <a:t>Diagnóstico gratuito  ·  Projeto AJ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F7C70C3-EB32-AA18-28C5-C3F83FA7A49F}"/>
              </a:ext>
            </a:extLst>
          </p:cNvPr>
          <p:cNvSpPr txBox="1"/>
          <p:nvPr/>
        </p:nvSpPr>
        <p:spPr>
          <a:xfrm>
            <a:off x="10109200" y="64516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lang="pt-BR" sz="900">
                <a:solidFill>
                  <a:srgbClr val="6B6660"/>
                </a:solidFill>
                <a:latin typeface="Segoe UI" panose="020B0502040204020203" pitchFamily="34" charset="0"/>
              </a:rPr>
              <a:t>7 / 13</a:t>
            </a:r>
          </a:p>
        </p:txBody>
      </p:sp>
    </p:spTree>
    <p:extLst>
      <p:ext uri="{BB962C8B-B14F-4D97-AF65-F5344CB8AC3E}">
        <p14:creationId xmlns:p14="http://schemas.microsoft.com/office/powerpoint/2010/main" val="675490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D40A958-8C91-4031-33A2-7B356B3911DF}"/>
              </a:ext>
            </a:extLst>
          </p:cNvPr>
          <p:cNvSpPr/>
          <p:nvPr/>
        </p:nvSpPr>
        <p:spPr>
          <a:xfrm>
            <a:off x="812800" y="635000"/>
            <a:ext cx="355600" cy="38100"/>
          </a:xfrm>
          <a:prstGeom prst="rect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602F812-92DF-5BEF-AE74-61C622FDBD29}"/>
              </a:ext>
            </a:extLst>
          </p:cNvPr>
          <p:cNvSpPr txBox="1"/>
          <p:nvPr/>
        </p:nvSpPr>
        <p:spPr>
          <a:xfrm>
            <a:off x="812800" y="787400"/>
            <a:ext cx="965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100">
                <a:solidFill>
                  <a:srgbClr val="B8893B"/>
                </a:solidFill>
                <a:latin typeface="Segoe UI Semibold" panose="020B0702040204020203" pitchFamily="34" charset="0"/>
              </a:rPr>
              <a:t>O QUE EU PRECISO DE VOCÊ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919C2A9-8C1A-DA2D-78C0-07B0B5712352}"/>
              </a:ext>
            </a:extLst>
          </p:cNvPr>
          <p:cNvSpPr txBox="1"/>
          <p:nvPr/>
        </p:nvSpPr>
        <p:spPr>
          <a:xfrm>
            <a:off x="812800" y="1066800"/>
            <a:ext cx="105664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000">
                <a:solidFill>
                  <a:srgbClr val="2A2826"/>
                </a:solidFill>
                <a:latin typeface="Georgia" panose="02040502050405020303" pitchFamily="18" charset="0"/>
              </a:rPr>
              <a:t>Pouco do seu tempo, muita franqueza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F924CD98-9E5F-7D8F-3814-700B0F4D2950}"/>
              </a:ext>
            </a:extLst>
          </p:cNvPr>
          <p:cNvSpPr/>
          <p:nvPr/>
        </p:nvSpPr>
        <p:spPr>
          <a:xfrm>
            <a:off x="812800" y="2286000"/>
            <a:ext cx="406400" cy="406400"/>
          </a:xfrm>
          <a:prstGeom prst="ellipse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>
                <a:solidFill>
                  <a:srgbClr val="FFFFFF"/>
                </a:solidFill>
                <a:latin typeface="Segoe UI Semibold" panose="020B0702040204020203" pitchFamily="34" charset="0"/>
              </a:rPr>
              <a:t>1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007EF06-52B8-6008-7531-BB2892564DE7}"/>
              </a:ext>
            </a:extLst>
          </p:cNvPr>
          <p:cNvSpPr txBox="1"/>
          <p:nvPr/>
        </p:nvSpPr>
        <p:spPr>
          <a:xfrm>
            <a:off x="1397000" y="2273300"/>
            <a:ext cx="5588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600">
                <a:solidFill>
                  <a:srgbClr val="2A2826"/>
                </a:solidFill>
                <a:latin typeface="Segoe UI Semibold" panose="020B0702040204020203" pitchFamily="34" charset="0"/>
              </a:rPr>
              <a:t>Tempo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5448868-1EC5-8129-DC14-C765E79F6968}"/>
              </a:ext>
            </a:extLst>
          </p:cNvPr>
          <p:cNvSpPr txBox="1"/>
          <p:nvPr/>
        </p:nvSpPr>
        <p:spPr>
          <a:xfrm>
            <a:off x="1397000" y="2578100"/>
            <a:ext cx="5588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300">
                <a:solidFill>
                  <a:srgbClr val="6B6660"/>
                </a:solidFill>
                <a:latin typeface="Segoe UI" panose="020B0502040204020203" pitchFamily="34" charset="0"/>
              </a:rPr>
              <a:t>Esta conversa e um acompanhamento curto, combinado com você.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65F4AD7E-1559-1EA6-290E-10EEA66EBAA1}"/>
              </a:ext>
            </a:extLst>
          </p:cNvPr>
          <p:cNvSpPr/>
          <p:nvPr/>
        </p:nvSpPr>
        <p:spPr>
          <a:xfrm>
            <a:off x="812800" y="3200400"/>
            <a:ext cx="406400" cy="406400"/>
          </a:xfrm>
          <a:prstGeom prst="ellipse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>
                <a:solidFill>
                  <a:srgbClr val="FFFFFF"/>
                </a:solidFill>
                <a:latin typeface="Segoe UI Semibold" panose="020B0702040204020203" pitchFamily="34" charset="0"/>
              </a:rPr>
              <a:t>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E7083DA-7CF6-2006-CF5B-98D3E264428B}"/>
              </a:ext>
            </a:extLst>
          </p:cNvPr>
          <p:cNvSpPr txBox="1"/>
          <p:nvPr/>
        </p:nvSpPr>
        <p:spPr>
          <a:xfrm>
            <a:off x="1397000" y="3187700"/>
            <a:ext cx="5588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600">
                <a:solidFill>
                  <a:srgbClr val="2A2826"/>
                </a:solidFill>
                <a:latin typeface="Segoe UI Semibold" panose="020B0702040204020203" pitchFamily="34" charset="0"/>
              </a:rPr>
              <a:t>Exemplos reais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1513FC5-A3B5-32B4-F8EA-C8F5E0B625D1}"/>
              </a:ext>
            </a:extLst>
          </p:cNvPr>
          <p:cNvSpPr txBox="1"/>
          <p:nvPr/>
        </p:nvSpPr>
        <p:spPr>
          <a:xfrm>
            <a:off x="1397000" y="3492500"/>
            <a:ext cx="5588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300">
                <a:solidFill>
                  <a:srgbClr val="6B6660"/>
                </a:solidFill>
                <a:latin typeface="Segoe UI" panose="020B0502040204020203" pitchFamily="34" charset="0"/>
              </a:rPr>
              <a:t>Como a agenda funciona e alguns casos recentes, sem expor seus clientes.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657C08CC-CEF3-7D0A-28D8-1DCFCC6BF699}"/>
              </a:ext>
            </a:extLst>
          </p:cNvPr>
          <p:cNvSpPr/>
          <p:nvPr/>
        </p:nvSpPr>
        <p:spPr>
          <a:xfrm>
            <a:off x="812800" y="4114800"/>
            <a:ext cx="406400" cy="406400"/>
          </a:xfrm>
          <a:prstGeom prst="ellipse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>
                <a:solidFill>
                  <a:srgbClr val="FFFFFF"/>
                </a:solidFill>
                <a:latin typeface="Segoe UI Semibold" panose="020B0702040204020203" pitchFamily="34" charset="0"/>
              </a:rPr>
              <a:t>3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D282CF8-9A06-79EC-AC56-C6D0157519FE}"/>
              </a:ext>
            </a:extLst>
          </p:cNvPr>
          <p:cNvSpPr txBox="1"/>
          <p:nvPr/>
        </p:nvSpPr>
        <p:spPr>
          <a:xfrm>
            <a:off x="1397000" y="4102100"/>
            <a:ext cx="5588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600">
                <a:solidFill>
                  <a:srgbClr val="2A2826"/>
                </a:solidFill>
                <a:latin typeface="Segoe UI Semibold" panose="020B0702040204020203" pitchFamily="34" charset="0"/>
              </a:rPr>
              <a:t>Franqueza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710D28A-D8B3-0D22-D67A-B17E0513DC25}"/>
              </a:ext>
            </a:extLst>
          </p:cNvPr>
          <p:cNvSpPr txBox="1"/>
          <p:nvPr/>
        </p:nvSpPr>
        <p:spPr>
          <a:xfrm>
            <a:off x="1397000" y="4406900"/>
            <a:ext cx="5588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300">
                <a:solidFill>
                  <a:srgbClr val="6B6660"/>
                </a:solidFill>
                <a:latin typeface="Segoe UI" panose="020B0502040204020203" pitchFamily="34" charset="0"/>
              </a:rPr>
              <a:t>Contar como funciona de verdade, inclusive o que não funciona.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5BDF50EE-271D-678C-F0CA-DEF121DFAE3D}"/>
              </a:ext>
            </a:extLst>
          </p:cNvPr>
          <p:cNvSpPr/>
          <p:nvPr/>
        </p:nvSpPr>
        <p:spPr>
          <a:xfrm>
            <a:off x="812800" y="5029200"/>
            <a:ext cx="406400" cy="406400"/>
          </a:xfrm>
          <a:prstGeom prst="ellipse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>
                <a:solidFill>
                  <a:srgbClr val="FFFFFF"/>
                </a:solidFill>
                <a:latin typeface="Segoe UI Semibold" panose="020B0702040204020203" pitchFamily="34" charset="0"/>
              </a:rPr>
              <a:t>4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9DE4749-34AA-8E6D-D4F8-D8208C2E6B1D}"/>
              </a:ext>
            </a:extLst>
          </p:cNvPr>
          <p:cNvSpPr txBox="1"/>
          <p:nvPr/>
        </p:nvSpPr>
        <p:spPr>
          <a:xfrm>
            <a:off x="1397000" y="5016500"/>
            <a:ext cx="5588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600">
                <a:solidFill>
                  <a:srgbClr val="2A2826"/>
                </a:solidFill>
                <a:latin typeface="Segoe UI Semibold" panose="020B0702040204020203" pitchFamily="34" charset="0"/>
              </a:rPr>
              <a:t>Sua palavra final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B0D915D-3F52-9CCA-5599-FDBE9AF6E8AD}"/>
              </a:ext>
            </a:extLst>
          </p:cNvPr>
          <p:cNvSpPr txBox="1"/>
          <p:nvPr/>
        </p:nvSpPr>
        <p:spPr>
          <a:xfrm>
            <a:off x="1397000" y="5321300"/>
            <a:ext cx="5588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300">
                <a:solidFill>
                  <a:srgbClr val="6B6660"/>
                </a:solidFill>
                <a:latin typeface="Segoe UI" panose="020B0502040204020203" pitchFamily="34" charset="0"/>
              </a:rPr>
              <a:t>Você define o que seria um bom resultado para a barbearia.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D5DFC68B-EEAF-C1A7-6E2B-75BB514A29B6}"/>
              </a:ext>
            </a:extLst>
          </p:cNvPr>
          <p:cNvSpPr/>
          <p:nvPr/>
        </p:nvSpPr>
        <p:spPr>
          <a:xfrm>
            <a:off x="7620000" y="2184400"/>
            <a:ext cx="3759200" cy="3759200"/>
          </a:xfrm>
          <a:prstGeom prst="rect">
            <a:avLst/>
          </a:prstGeom>
          <a:solidFill>
            <a:srgbClr val="1C1B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1423C86-A415-429B-86AA-69231B5C60E9}"/>
              </a:ext>
            </a:extLst>
          </p:cNvPr>
          <p:cNvSpPr txBox="1"/>
          <p:nvPr/>
        </p:nvSpPr>
        <p:spPr>
          <a:xfrm>
            <a:off x="7950200" y="2489200"/>
            <a:ext cx="3175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600">
                <a:solidFill>
                  <a:srgbClr val="B8893B"/>
                </a:solidFill>
                <a:latin typeface="Segoe UI Semibold" panose="020B0702040204020203" pitchFamily="34" charset="0"/>
              </a:rPr>
              <a:t>O que eu não preciso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344FC0D-5A63-F6E2-E4A9-16DCDE99B349}"/>
              </a:ext>
            </a:extLst>
          </p:cNvPr>
          <p:cNvSpPr txBox="1"/>
          <p:nvPr/>
        </p:nvSpPr>
        <p:spPr>
          <a:xfrm>
            <a:off x="7950200" y="2971800"/>
            <a:ext cx="3175000" cy="190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pt-BR" sz="1400">
                <a:solidFill>
                  <a:srgbClr val="F3EDE3"/>
                </a:solidFill>
                <a:latin typeface="Segoe UI" panose="020B0502040204020203" pitchFamily="34" charset="0"/>
              </a:rPr>
              <a:t>—  Senhas</a:t>
            </a:r>
          </a:p>
          <a:p>
            <a:pPr>
              <a:lnSpc>
                <a:spcPct val="125000"/>
              </a:lnSpc>
            </a:pPr>
            <a:r>
              <a:rPr lang="pt-BR" sz="1400">
                <a:solidFill>
                  <a:srgbClr val="F3EDE3"/>
                </a:solidFill>
                <a:latin typeface="Segoe UI" panose="020B0502040204020203" pitchFamily="34" charset="0"/>
              </a:rPr>
              <a:t>—  Cópia das conversas de clientes</a:t>
            </a:r>
          </a:p>
          <a:p>
            <a:pPr>
              <a:lnSpc>
                <a:spcPct val="125000"/>
              </a:lnSpc>
            </a:pPr>
            <a:r>
              <a:rPr lang="pt-BR" sz="1400">
                <a:solidFill>
                  <a:srgbClr val="F3EDE3"/>
                </a:solidFill>
                <a:latin typeface="Segoe UI" panose="020B0502040204020203" pitchFamily="34" charset="0"/>
              </a:rPr>
              <a:t>—  Mudar sua rotina no diagnóstico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FDD5DBB-29DD-9980-9651-7BC5E6348595}"/>
              </a:ext>
            </a:extLst>
          </p:cNvPr>
          <p:cNvSpPr txBox="1"/>
          <p:nvPr/>
        </p:nvSpPr>
        <p:spPr>
          <a:xfrm>
            <a:off x="7950200" y="5130800"/>
            <a:ext cx="3175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200" i="1">
                <a:solidFill>
                  <a:srgbClr val="CFC6B8"/>
                </a:solidFill>
                <a:latin typeface="Segoe UI" panose="020B0502040204020203" pitchFamily="34" charset="0"/>
              </a:rPr>
              <a:t>Se algo precisar ser consultado, combinamos antes.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9A8B563-DFE1-BC75-043C-0F55F611A4E0}"/>
              </a:ext>
            </a:extLst>
          </p:cNvPr>
          <p:cNvSpPr txBox="1"/>
          <p:nvPr/>
        </p:nvSpPr>
        <p:spPr>
          <a:xfrm>
            <a:off x="812800" y="64516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900">
                <a:solidFill>
                  <a:srgbClr val="6B6660"/>
                </a:solidFill>
                <a:latin typeface="Segoe UI" panose="020B0502040204020203" pitchFamily="34" charset="0"/>
              </a:rPr>
              <a:t>Diagnóstico gratuito  ·  Projeto AJ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6DBF8466-F62D-632C-2239-EF6691393882}"/>
              </a:ext>
            </a:extLst>
          </p:cNvPr>
          <p:cNvSpPr txBox="1"/>
          <p:nvPr/>
        </p:nvSpPr>
        <p:spPr>
          <a:xfrm>
            <a:off x="10109200" y="64516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lang="pt-BR" sz="900">
                <a:solidFill>
                  <a:srgbClr val="6B6660"/>
                </a:solidFill>
                <a:latin typeface="Segoe UI" panose="020B0502040204020203" pitchFamily="34" charset="0"/>
              </a:rPr>
              <a:t>8 / 13</a:t>
            </a:r>
          </a:p>
        </p:txBody>
      </p:sp>
    </p:spTree>
    <p:extLst>
      <p:ext uri="{BB962C8B-B14F-4D97-AF65-F5344CB8AC3E}">
        <p14:creationId xmlns:p14="http://schemas.microsoft.com/office/powerpoint/2010/main" val="2376579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F184378-E4E2-1290-E900-A97ED09905C8}"/>
              </a:ext>
            </a:extLst>
          </p:cNvPr>
          <p:cNvSpPr/>
          <p:nvPr/>
        </p:nvSpPr>
        <p:spPr>
          <a:xfrm>
            <a:off x="812800" y="635000"/>
            <a:ext cx="355600" cy="38100"/>
          </a:xfrm>
          <a:prstGeom prst="rect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A8A1845-EDA3-D208-03E4-65CDAC249FE4}"/>
              </a:ext>
            </a:extLst>
          </p:cNvPr>
          <p:cNvSpPr txBox="1"/>
          <p:nvPr/>
        </p:nvSpPr>
        <p:spPr>
          <a:xfrm>
            <a:off x="812800" y="787400"/>
            <a:ext cx="965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100">
                <a:solidFill>
                  <a:srgbClr val="B8893B"/>
                </a:solidFill>
                <a:latin typeface="Segoe UI Semibold" panose="020B0702040204020203" pitchFamily="34" charset="0"/>
              </a:rPr>
              <a:t>O QUE PRECISO ENTENDER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5AD031A-26C7-E09E-DA54-B626120EFC7F}"/>
              </a:ext>
            </a:extLst>
          </p:cNvPr>
          <p:cNvSpPr txBox="1"/>
          <p:nvPr/>
        </p:nvSpPr>
        <p:spPr>
          <a:xfrm>
            <a:off x="812800" y="1066800"/>
            <a:ext cx="10566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200">
                <a:solidFill>
                  <a:srgbClr val="F3EDE3"/>
                </a:solidFill>
                <a:latin typeface="Georgia" panose="02040502050405020303" pitchFamily="18" charset="0"/>
              </a:rPr>
              <a:t>Seis perguntas sobre o seu negócio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38C807A-61CE-BCB0-D852-B6E53235863E}"/>
              </a:ext>
            </a:extLst>
          </p:cNvPr>
          <p:cNvSpPr txBox="1"/>
          <p:nvPr/>
        </p:nvSpPr>
        <p:spPr>
          <a:xfrm>
            <a:off x="812800" y="2184400"/>
            <a:ext cx="50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2200">
                <a:solidFill>
                  <a:srgbClr val="B8893B"/>
                </a:solidFill>
                <a:latin typeface="Georgia" panose="02040502050405020303" pitchFamily="18" charset="0"/>
              </a:rPr>
              <a:t>01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BD46F9A-C5B8-DE36-D36E-4CF5BDF8E3DF}"/>
              </a:ext>
            </a:extLst>
          </p:cNvPr>
          <p:cNvSpPr txBox="1"/>
          <p:nvPr/>
        </p:nvSpPr>
        <p:spPr>
          <a:xfrm>
            <a:off x="1447800" y="2222500"/>
            <a:ext cx="4445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1550">
                <a:solidFill>
                  <a:srgbClr val="F3EDE3"/>
                </a:solidFill>
                <a:latin typeface="Segoe UI" panose="020B0502040204020203" pitchFamily="34" charset="0"/>
              </a:rPr>
              <a:t>Como o cliente chega até você e marca um horário hoje?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2919132-D4B2-BD88-0F7E-EAB3121160FA}"/>
              </a:ext>
            </a:extLst>
          </p:cNvPr>
          <p:cNvSpPr txBox="1"/>
          <p:nvPr/>
        </p:nvSpPr>
        <p:spPr>
          <a:xfrm>
            <a:off x="6248400" y="2184400"/>
            <a:ext cx="50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2200">
                <a:solidFill>
                  <a:srgbClr val="B8893B"/>
                </a:solidFill>
                <a:latin typeface="Georgia" panose="02040502050405020303" pitchFamily="18" charset="0"/>
              </a:rPr>
              <a:t>02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5FEB759-B125-253E-169D-4FD9637CC1E0}"/>
              </a:ext>
            </a:extLst>
          </p:cNvPr>
          <p:cNvSpPr txBox="1"/>
          <p:nvPr/>
        </p:nvSpPr>
        <p:spPr>
          <a:xfrm>
            <a:off x="6883400" y="2222500"/>
            <a:ext cx="4445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1550">
                <a:solidFill>
                  <a:srgbClr val="F3EDE3"/>
                </a:solidFill>
                <a:latin typeface="Segoe UI" panose="020B0502040204020203" pitchFamily="34" charset="0"/>
              </a:rPr>
              <a:t>Enquanto você atende, quem cuida das mensagens e das mudanças de horário?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E277DE7-C701-5905-6F24-433DEF3C86BD}"/>
              </a:ext>
            </a:extLst>
          </p:cNvPr>
          <p:cNvSpPr txBox="1"/>
          <p:nvPr/>
        </p:nvSpPr>
        <p:spPr>
          <a:xfrm>
            <a:off x="812800" y="3251200"/>
            <a:ext cx="50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2200">
                <a:solidFill>
                  <a:srgbClr val="B8893B"/>
                </a:solidFill>
                <a:latin typeface="Georgia" panose="02040502050405020303" pitchFamily="18" charset="0"/>
              </a:rPr>
              <a:t>03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182868A-6687-74EC-892D-426632891B24}"/>
              </a:ext>
            </a:extLst>
          </p:cNvPr>
          <p:cNvSpPr txBox="1"/>
          <p:nvPr/>
        </p:nvSpPr>
        <p:spPr>
          <a:xfrm>
            <a:off x="1447800" y="3289300"/>
            <a:ext cx="4445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1550">
                <a:solidFill>
                  <a:srgbClr val="F3EDE3"/>
                </a:solidFill>
                <a:latin typeface="Segoe UI" panose="020B0502040204020203" pitchFamily="34" charset="0"/>
              </a:rPr>
              <a:t>Qual parte da rotina mais atrapalha? Lembra de um caso recente?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59413AA-534E-383C-F6ED-CC1D04F442D3}"/>
              </a:ext>
            </a:extLst>
          </p:cNvPr>
          <p:cNvSpPr txBox="1"/>
          <p:nvPr/>
        </p:nvSpPr>
        <p:spPr>
          <a:xfrm>
            <a:off x="6248400" y="3251200"/>
            <a:ext cx="50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2200">
                <a:solidFill>
                  <a:srgbClr val="B8893B"/>
                </a:solidFill>
                <a:latin typeface="Georgia" panose="02040502050405020303" pitchFamily="18" charset="0"/>
              </a:rPr>
              <a:t>04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B802933-FE47-3338-3395-AF8FECCBAC3F}"/>
              </a:ext>
            </a:extLst>
          </p:cNvPr>
          <p:cNvSpPr txBox="1"/>
          <p:nvPr/>
        </p:nvSpPr>
        <p:spPr>
          <a:xfrm>
            <a:off x="6883400" y="3289300"/>
            <a:ext cx="4445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1550">
                <a:solidFill>
                  <a:srgbClr val="F3EDE3"/>
                </a:solidFill>
                <a:latin typeface="Segoe UI" panose="020B0502040204020203" pitchFamily="34" charset="0"/>
              </a:rPr>
              <a:t>O que fica anotado e o que fica só na memória?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3F38E80-000E-1A01-0FA6-0A3ADDBBC4B6}"/>
              </a:ext>
            </a:extLst>
          </p:cNvPr>
          <p:cNvSpPr txBox="1"/>
          <p:nvPr/>
        </p:nvSpPr>
        <p:spPr>
          <a:xfrm>
            <a:off x="812800" y="4318000"/>
            <a:ext cx="50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2200">
                <a:solidFill>
                  <a:srgbClr val="B8893B"/>
                </a:solidFill>
                <a:latin typeface="Georgia" panose="02040502050405020303" pitchFamily="18" charset="0"/>
              </a:rPr>
              <a:t>05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634FE21-342C-0CE7-21A7-47D926C9BC62}"/>
              </a:ext>
            </a:extLst>
          </p:cNvPr>
          <p:cNvSpPr txBox="1"/>
          <p:nvPr/>
        </p:nvSpPr>
        <p:spPr>
          <a:xfrm>
            <a:off x="1447800" y="4356100"/>
            <a:ext cx="4445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1550">
                <a:solidFill>
                  <a:srgbClr val="F3EDE3"/>
                </a:solidFill>
                <a:latin typeface="Segoe UI" panose="020B0502040204020203" pitchFamily="34" charset="0"/>
              </a:rPr>
              <a:t>Faltas, atrasos e remarcações: com que frequência acontecem?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0AE4A90-3604-23E2-C5DA-D336BAE76453}"/>
              </a:ext>
            </a:extLst>
          </p:cNvPr>
          <p:cNvSpPr txBox="1"/>
          <p:nvPr/>
        </p:nvSpPr>
        <p:spPr>
          <a:xfrm>
            <a:off x="6248400" y="4318000"/>
            <a:ext cx="50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2200">
                <a:solidFill>
                  <a:srgbClr val="B8893B"/>
                </a:solidFill>
                <a:latin typeface="Georgia" panose="02040502050405020303" pitchFamily="18" charset="0"/>
              </a:rPr>
              <a:t>06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86F89C6-F826-E2BC-6FD8-D55AFFF2D442}"/>
              </a:ext>
            </a:extLst>
          </p:cNvPr>
          <p:cNvSpPr txBox="1"/>
          <p:nvPr/>
        </p:nvSpPr>
        <p:spPr>
          <a:xfrm>
            <a:off x="6883400" y="4356100"/>
            <a:ext cx="4445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pt-BR" sz="1550">
                <a:solidFill>
                  <a:srgbClr val="F3EDE3"/>
                </a:solidFill>
                <a:latin typeface="Segoe UI" panose="020B0502040204020203" pitchFamily="34" charset="0"/>
              </a:rPr>
              <a:t>Que melhora faria esse esforço valer a pena para você?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F7695B9-D213-ED26-709A-72B97C4ECE9F}"/>
              </a:ext>
            </a:extLst>
          </p:cNvPr>
          <p:cNvSpPr txBox="1"/>
          <p:nvPr/>
        </p:nvSpPr>
        <p:spPr>
          <a:xfrm>
            <a:off x="812800" y="5588000"/>
            <a:ext cx="105664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400" i="1">
                <a:solidFill>
                  <a:srgbClr val="B8893B"/>
                </a:solidFill>
                <a:latin typeface="Segoe UI" panose="020B0502040204020203" pitchFamily="34" charset="0"/>
              </a:rPr>
              <a:t>Se você topar, começamos agora mesmo. Eu anoto tudo e te devolvo organizado.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74C369D-0C7B-22B7-09A8-C673BD367C0C}"/>
              </a:ext>
            </a:extLst>
          </p:cNvPr>
          <p:cNvSpPr txBox="1"/>
          <p:nvPr/>
        </p:nvSpPr>
        <p:spPr>
          <a:xfrm>
            <a:off x="812800" y="64516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900">
                <a:solidFill>
                  <a:srgbClr val="CFC6B8"/>
                </a:solidFill>
                <a:latin typeface="Segoe UI" panose="020B0502040204020203" pitchFamily="34" charset="0"/>
              </a:rPr>
              <a:t>Diagnóstico gratuito  ·  Projeto AJ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BF89AD4-57BC-3C3E-3F81-1E2C814CAB3E}"/>
              </a:ext>
            </a:extLst>
          </p:cNvPr>
          <p:cNvSpPr txBox="1"/>
          <p:nvPr/>
        </p:nvSpPr>
        <p:spPr>
          <a:xfrm>
            <a:off x="10109200" y="64516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lang="pt-BR" sz="900">
                <a:solidFill>
                  <a:srgbClr val="CFC6B8"/>
                </a:solidFill>
                <a:latin typeface="Segoe UI" panose="020B0502040204020203" pitchFamily="34" charset="0"/>
              </a:rPr>
              <a:t>9 / 13</a:t>
            </a:r>
          </a:p>
        </p:txBody>
      </p:sp>
    </p:spTree>
    <p:extLst>
      <p:ext uri="{BB962C8B-B14F-4D97-AF65-F5344CB8AC3E}">
        <p14:creationId xmlns:p14="http://schemas.microsoft.com/office/powerpoint/2010/main" val="1439027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837339A-C03B-AE92-1FD3-C85C9CA99F7A}"/>
              </a:ext>
            </a:extLst>
          </p:cNvPr>
          <p:cNvSpPr/>
          <p:nvPr/>
        </p:nvSpPr>
        <p:spPr>
          <a:xfrm>
            <a:off x="812800" y="635000"/>
            <a:ext cx="355600" cy="38100"/>
          </a:xfrm>
          <a:prstGeom prst="rect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4E6F12C-4975-3EC3-8D0A-858EA4DB0662}"/>
              </a:ext>
            </a:extLst>
          </p:cNvPr>
          <p:cNvSpPr txBox="1"/>
          <p:nvPr/>
        </p:nvSpPr>
        <p:spPr>
          <a:xfrm>
            <a:off x="812800" y="787400"/>
            <a:ext cx="965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100">
                <a:solidFill>
                  <a:srgbClr val="B8893B"/>
                </a:solidFill>
                <a:latin typeface="Segoe UI Semibold" panose="020B0702040204020203" pitchFamily="34" charset="0"/>
              </a:rPr>
              <a:t>COMO MEDIR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FFC8903-E673-53EB-B164-4D79413AE5B5}"/>
              </a:ext>
            </a:extLst>
          </p:cNvPr>
          <p:cNvSpPr txBox="1"/>
          <p:nvPr/>
        </p:nvSpPr>
        <p:spPr>
          <a:xfrm>
            <a:off x="812800" y="1066800"/>
            <a:ext cx="105664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000">
                <a:solidFill>
                  <a:srgbClr val="2A2826"/>
                </a:solidFill>
                <a:latin typeface="Georgia" panose="02040502050405020303" pitchFamily="18" charset="0"/>
              </a:rPr>
              <a:t>Como vamos saber se melhorou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08127C75-349C-41D1-1687-B5B013FEDDAF}"/>
              </a:ext>
            </a:extLst>
          </p:cNvPr>
          <p:cNvSpPr/>
          <p:nvPr/>
        </p:nvSpPr>
        <p:spPr>
          <a:xfrm>
            <a:off x="812800" y="2362200"/>
            <a:ext cx="431800" cy="431800"/>
          </a:xfrm>
          <a:prstGeom prst="ellipse">
            <a:avLst/>
          </a:prstGeom>
          <a:solidFill>
            <a:srgbClr val="1C1B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>
                <a:solidFill>
                  <a:srgbClr val="F3EDE3"/>
                </a:solidFill>
                <a:latin typeface="Segoe UI Semibold" panose="020B0702040204020203" pitchFamily="34" charset="0"/>
              </a:rPr>
              <a:t>1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D7C6C15-2ACF-1AE8-DAB4-209A2E51679B}"/>
              </a:ext>
            </a:extLst>
          </p:cNvPr>
          <p:cNvSpPr txBox="1"/>
          <p:nvPr/>
        </p:nvSpPr>
        <p:spPr>
          <a:xfrm>
            <a:off x="1422400" y="2349500"/>
            <a:ext cx="457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600">
                <a:solidFill>
                  <a:srgbClr val="2A2826"/>
                </a:solidFill>
                <a:latin typeface="Segoe UI Semibold" panose="020B0702040204020203" pitchFamily="34" charset="0"/>
              </a:rPr>
              <a:t>Medimos como é hoje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AD0CC49-CF1E-8F36-9082-D9692CE3717A}"/>
              </a:ext>
            </a:extLst>
          </p:cNvPr>
          <p:cNvSpPr txBox="1"/>
          <p:nvPr/>
        </p:nvSpPr>
        <p:spPr>
          <a:xfrm>
            <a:off x="1422400" y="2667000"/>
            <a:ext cx="4572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300">
                <a:solidFill>
                  <a:srgbClr val="6B6660"/>
                </a:solidFill>
                <a:latin typeface="Segoe UI" panose="020B0502040204020203" pitchFamily="34" charset="0"/>
              </a:rPr>
              <a:t>O ponto de partida, antes de mudar qualquer coisa.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2D20E868-24B6-DE5B-E175-AE291BBDB2E2}"/>
              </a:ext>
            </a:extLst>
          </p:cNvPr>
          <p:cNvSpPr/>
          <p:nvPr/>
        </p:nvSpPr>
        <p:spPr>
          <a:xfrm>
            <a:off x="812800" y="3378200"/>
            <a:ext cx="431800" cy="431800"/>
          </a:xfrm>
          <a:prstGeom prst="ellipse">
            <a:avLst/>
          </a:prstGeom>
          <a:solidFill>
            <a:srgbClr val="1C1B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>
                <a:solidFill>
                  <a:srgbClr val="F3EDE3"/>
                </a:solidFill>
                <a:latin typeface="Segoe UI Semibold" panose="020B0702040204020203" pitchFamily="34" charset="0"/>
              </a:rPr>
              <a:t>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AE744EC-B4FE-EF25-7725-6ED4E2B869FE}"/>
              </a:ext>
            </a:extLst>
          </p:cNvPr>
          <p:cNvSpPr txBox="1"/>
          <p:nvPr/>
        </p:nvSpPr>
        <p:spPr>
          <a:xfrm>
            <a:off x="1422400" y="3365500"/>
            <a:ext cx="457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600">
                <a:solidFill>
                  <a:srgbClr val="2A2826"/>
                </a:solidFill>
                <a:latin typeface="Segoe UI Semibold" panose="020B0702040204020203" pitchFamily="34" charset="0"/>
              </a:rPr>
              <a:t>Você escolhe a meta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67F3205-F989-9201-76E6-5AA59AD3FD25}"/>
              </a:ext>
            </a:extLst>
          </p:cNvPr>
          <p:cNvSpPr txBox="1"/>
          <p:nvPr/>
        </p:nvSpPr>
        <p:spPr>
          <a:xfrm>
            <a:off x="1422400" y="3683000"/>
            <a:ext cx="4572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300">
                <a:solidFill>
                  <a:srgbClr val="6B6660"/>
                </a:solidFill>
                <a:latin typeface="Segoe UI" panose="020B0502040204020203" pitchFamily="34" charset="0"/>
              </a:rPr>
              <a:t>O que seria um bom resultado para a barbearia.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12C4BAB1-85E7-CDEB-A610-55C4EF75009D}"/>
              </a:ext>
            </a:extLst>
          </p:cNvPr>
          <p:cNvSpPr/>
          <p:nvPr/>
        </p:nvSpPr>
        <p:spPr>
          <a:xfrm>
            <a:off x="812800" y="4394200"/>
            <a:ext cx="431800" cy="431800"/>
          </a:xfrm>
          <a:prstGeom prst="ellipse">
            <a:avLst/>
          </a:prstGeom>
          <a:solidFill>
            <a:srgbClr val="1C1B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>
                <a:solidFill>
                  <a:srgbClr val="F3EDE3"/>
                </a:solidFill>
                <a:latin typeface="Segoe UI Semibold" panose="020B0702040204020203" pitchFamily="34" charset="0"/>
              </a:rPr>
              <a:t>3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D306AC6-AD4E-9759-A452-BE502199DD47}"/>
              </a:ext>
            </a:extLst>
          </p:cNvPr>
          <p:cNvSpPr txBox="1"/>
          <p:nvPr/>
        </p:nvSpPr>
        <p:spPr>
          <a:xfrm>
            <a:off x="1422400" y="4381500"/>
            <a:ext cx="457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600">
                <a:solidFill>
                  <a:srgbClr val="2A2826"/>
                </a:solidFill>
                <a:latin typeface="Segoe UI Semibold" panose="020B0702040204020203" pitchFamily="34" charset="0"/>
              </a:rPr>
              <a:t>Comparamos depois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F584347-3585-E865-51FD-D19DCE0EE984}"/>
              </a:ext>
            </a:extLst>
          </p:cNvPr>
          <p:cNvSpPr txBox="1"/>
          <p:nvPr/>
        </p:nvSpPr>
        <p:spPr>
          <a:xfrm>
            <a:off x="1422400" y="4699000"/>
            <a:ext cx="4572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300">
                <a:solidFill>
                  <a:srgbClr val="6B6660"/>
                </a:solidFill>
                <a:latin typeface="Segoe UI" panose="020B0502040204020203" pitchFamily="34" charset="0"/>
              </a:rPr>
              <a:t>Com o mesmo jeito de medir.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80073A92-8C4E-C08D-13D3-8810B00D315B}"/>
              </a:ext>
            </a:extLst>
          </p:cNvPr>
          <p:cNvSpPr/>
          <p:nvPr/>
        </p:nvSpPr>
        <p:spPr>
          <a:xfrm>
            <a:off x="6502400" y="2235200"/>
            <a:ext cx="4876800" cy="317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DC23506-CF73-2583-80B2-DE4B154C59CF}"/>
              </a:ext>
            </a:extLst>
          </p:cNvPr>
          <p:cNvSpPr txBox="1"/>
          <p:nvPr/>
        </p:nvSpPr>
        <p:spPr>
          <a:xfrm>
            <a:off x="6858000" y="2540000"/>
            <a:ext cx="4191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100">
                <a:solidFill>
                  <a:srgbClr val="B8893B"/>
                </a:solidFill>
                <a:latin typeface="Segoe UI Semibold" panose="020B0702040204020203" pitchFamily="34" charset="0"/>
              </a:rPr>
              <a:t>EXEMPLOS DO QUE DÁ PARA MEDIR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FFE8903-5861-AFD2-1ACB-C74BC4F4FD94}"/>
              </a:ext>
            </a:extLst>
          </p:cNvPr>
          <p:cNvSpPr/>
          <p:nvPr/>
        </p:nvSpPr>
        <p:spPr>
          <a:xfrm>
            <a:off x="6858000" y="3124200"/>
            <a:ext cx="101600" cy="101600"/>
          </a:xfrm>
          <a:prstGeom prst="rect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15CECF3-5D22-51FF-D73F-5F1DAE64F210}"/>
              </a:ext>
            </a:extLst>
          </p:cNvPr>
          <p:cNvSpPr txBox="1"/>
          <p:nvPr/>
        </p:nvSpPr>
        <p:spPr>
          <a:xfrm>
            <a:off x="7112000" y="3048000"/>
            <a:ext cx="4064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450">
                <a:solidFill>
                  <a:srgbClr val="2A2826"/>
                </a:solidFill>
                <a:latin typeface="Segoe UI" panose="020B0502040204020203" pitchFamily="34" charset="0"/>
              </a:rPr>
              <a:t>Tempo até responder um cliente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1BB92FD3-1B9B-C947-3A85-6039DDE86432}"/>
              </a:ext>
            </a:extLst>
          </p:cNvPr>
          <p:cNvSpPr/>
          <p:nvPr/>
        </p:nvSpPr>
        <p:spPr>
          <a:xfrm>
            <a:off x="6858000" y="3683000"/>
            <a:ext cx="101600" cy="101600"/>
          </a:xfrm>
          <a:prstGeom prst="rect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EFF506D-9246-94B5-8A19-E30D95D82215}"/>
              </a:ext>
            </a:extLst>
          </p:cNvPr>
          <p:cNvSpPr txBox="1"/>
          <p:nvPr/>
        </p:nvSpPr>
        <p:spPr>
          <a:xfrm>
            <a:off x="7112000" y="3606800"/>
            <a:ext cx="4064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450">
                <a:solidFill>
                  <a:srgbClr val="2A2826"/>
                </a:solidFill>
                <a:latin typeface="Segoe UI" panose="020B0502040204020203" pitchFamily="34" charset="0"/>
              </a:rPr>
              <a:t>Mensagens até confirmar um horário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3579E3CF-04A6-DF72-B356-51AE7148157C}"/>
              </a:ext>
            </a:extLst>
          </p:cNvPr>
          <p:cNvSpPr/>
          <p:nvPr/>
        </p:nvSpPr>
        <p:spPr>
          <a:xfrm>
            <a:off x="6858000" y="4241800"/>
            <a:ext cx="101600" cy="101600"/>
          </a:xfrm>
          <a:prstGeom prst="rect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BB291E5C-613D-5537-825E-FDA7722640F6}"/>
              </a:ext>
            </a:extLst>
          </p:cNvPr>
          <p:cNvSpPr txBox="1"/>
          <p:nvPr/>
        </p:nvSpPr>
        <p:spPr>
          <a:xfrm>
            <a:off x="7112000" y="4165600"/>
            <a:ext cx="4064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450">
                <a:solidFill>
                  <a:srgbClr val="2A2826"/>
                </a:solidFill>
                <a:latin typeface="Segoe UI" panose="020B0502040204020203" pitchFamily="34" charset="0"/>
              </a:rPr>
              <a:t>Faltas a cada 100 agendamentos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140CECD8-F96D-E0B3-59CE-F9C9A109FC66}"/>
              </a:ext>
            </a:extLst>
          </p:cNvPr>
          <p:cNvSpPr/>
          <p:nvPr/>
        </p:nvSpPr>
        <p:spPr>
          <a:xfrm>
            <a:off x="6858000" y="4800600"/>
            <a:ext cx="101600" cy="101600"/>
          </a:xfrm>
          <a:prstGeom prst="rect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8AFD339-AA03-45FF-0968-74E74142890F}"/>
              </a:ext>
            </a:extLst>
          </p:cNvPr>
          <p:cNvSpPr txBox="1"/>
          <p:nvPr/>
        </p:nvSpPr>
        <p:spPr>
          <a:xfrm>
            <a:off x="7112000" y="4724400"/>
            <a:ext cx="4064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450">
                <a:solidFill>
                  <a:srgbClr val="2A2826"/>
                </a:solidFill>
                <a:latin typeface="Segoe UI" panose="020B0502040204020203" pitchFamily="34" charset="0"/>
              </a:rPr>
              <a:t>Horários vagos que poderiam ser preenchidos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C4FDDE2-5D5D-91D0-F236-F12EEE760C3D}"/>
              </a:ext>
            </a:extLst>
          </p:cNvPr>
          <p:cNvSpPr txBox="1"/>
          <p:nvPr/>
        </p:nvSpPr>
        <p:spPr>
          <a:xfrm>
            <a:off x="812800" y="5689600"/>
            <a:ext cx="10566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300" i="1">
                <a:solidFill>
                  <a:srgbClr val="6B6660"/>
                </a:solidFill>
                <a:latin typeface="Segoe UI" panose="020B0502040204020203" pitchFamily="34" charset="0"/>
              </a:rPr>
              <a:t>Nenhum número é prometido antes de medir.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639220E7-5AC7-D829-D6C4-D9EC1BE14FDD}"/>
              </a:ext>
            </a:extLst>
          </p:cNvPr>
          <p:cNvSpPr txBox="1"/>
          <p:nvPr/>
        </p:nvSpPr>
        <p:spPr>
          <a:xfrm>
            <a:off x="812800" y="64516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900">
                <a:solidFill>
                  <a:srgbClr val="6B6660"/>
                </a:solidFill>
                <a:latin typeface="Segoe UI" panose="020B0502040204020203" pitchFamily="34" charset="0"/>
              </a:rPr>
              <a:t>Diagnóstico gratuito  ·  Projeto AJ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40AEC2E-56C3-CBA1-7FDB-370951C8E153}"/>
              </a:ext>
            </a:extLst>
          </p:cNvPr>
          <p:cNvSpPr txBox="1"/>
          <p:nvPr/>
        </p:nvSpPr>
        <p:spPr>
          <a:xfrm>
            <a:off x="10109200" y="64516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lang="pt-BR" sz="900">
                <a:solidFill>
                  <a:srgbClr val="6B6660"/>
                </a:solidFill>
                <a:latin typeface="Segoe UI" panose="020B0502040204020203" pitchFamily="34" charset="0"/>
              </a:rPr>
              <a:t>10 / 13</a:t>
            </a:r>
          </a:p>
        </p:txBody>
      </p:sp>
    </p:spTree>
    <p:extLst>
      <p:ext uri="{BB962C8B-B14F-4D97-AF65-F5344CB8AC3E}">
        <p14:creationId xmlns:p14="http://schemas.microsoft.com/office/powerpoint/2010/main" val="3355969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7B3EBA1-562F-5902-75BB-143936F67FCB}"/>
              </a:ext>
            </a:extLst>
          </p:cNvPr>
          <p:cNvSpPr/>
          <p:nvPr/>
        </p:nvSpPr>
        <p:spPr>
          <a:xfrm>
            <a:off x="812800" y="635000"/>
            <a:ext cx="355600" cy="38100"/>
          </a:xfrm>
          <a:prstGeom prst="rect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55BD52A-43F8-A454-7104-7DF923D2C276}"/>
              </a:ext>
            </a:extLst>
          </p:cNvPr>
          <p:cNvSpPr txBox="1"/>
          <p:nvPr/>
        </p:nvSpPr>
        <p:spPr>
          <a:xfrm>
            <a:off x="812800" y="787400"/>
            <a:ext cx="965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100">
                <a:solidFill>
                  <a:srgbClr val="B8893B"/>
                </a:solidFill>
                <a:latin typeface="Segoe UI Semibold" panose="020B0702040204020203" pitchFamily="34" charset="0"/>
              </a:rPr>
              <a:t>SEUS CUIDADOS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DC00C5F-6524-E8F7-2F21-1B68C68D4A59}"/>
              </a:ext>
            </a:extLst>
          </p:cNvPr>
          <p:cNvSpPr txBox="1"/>
          <p:nvPr/>
        </p:nvSpPr>
        <p:spPr>
          <a:xfrm>
            <a:off x="812800" y="1066800"/>
            <a:ext cx="10566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200">
                <a:solidFill>
                  <a:srgbClr val="F3EDE3"/>
                </a:solidFill>
                <a:latin typeface="Georgia" panose="02040502050405020303" pitchFamily="18" charset="0"/>
              </a:rPr>
              <a:t>O que fica garantido para você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9AA0D06-708B-D41A-4BB6-F9ED3AB8E2CB}"/>
              </a:ext>
            </a:extLst>
          </p:cNvPr>
          <p:cNvSpPr/>
          <p:nvPr/>
        </p:nvSpPr>
        <p:spPr>
          <a:xfrm>
            <a:off x="812800" y="2222500"/>
            <a:ext cx="127000" cy="127000"/>
          </a:xfrm>
          <a:prstGeom prst="rect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A89D7FC-15CF-9A0B-B48F-6A8BF53E1BCB}"/>
              </a:ext>
            </a:extLst>
          </p:cNvPr>
          <p:cNvSpPr txBox="1"/>
          <p:nvPr/>
        </p:nvSpPr>
        <p:spPr>
          <a:xfrm>
            <a:off x="1143000" y="2146300"/>
            <a:ext cx="3302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600">
                <a:solidFill>
                  <a:srgbClr val="F3EDE3"/>
                </a:solidFill>
                <a:latin typeface="Segoe UI Semibold" panose="020B0702040204020203" pitchFamily="34" charset="0"/>
              </a:rPr>
              <a:t>Você decide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5217598-02FA-CB22-8014-E1EF80622CE1}"/>
              </a:ext>
            </a:extLst>
          </p:cNvPr>
          <p:cNvSpPr txBox="1"/>
          <p:nvPr/>
        </p:nvSpPr>
        <p:spPr>
          <a:xfrm>
            <a:off x="4572000" y="2159000"/>
            <a:ext cx="6807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400">
                <a:solidFill>
                  <a:srgbClr val="CFC6B8"/>
                </a:solidFill>
                <a:latin typeface="Segoe UI" panose="020B0502040204020203" pitchFamily="34" charset="0"/>
              </a:rPr>
              <a:t>Nada muda na barbearia sem o seu ok.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4C6DC6E-5E88-F749-74A7-C3BB6FC0A588}"/>
              </a:ext>
            </a:extLst>
          </p:cNvPr>
          <p:cNvSpPr/>
          <p:nvPr/>
        </p:nvSpPr>
        <p:spPr>
          <a:xfrm>
            <a:off x="812800" y="2743200"/>
            <a:ext cx="10566400" cy="12700"/>
          </a:xfrm>
          <a:prstGeom prst="rect">
            <a:avLst/>
          </a:prstGeom>
          <a:solidFill>
            <a:srgbClr val="3A38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B04F7E7-31E1-DF42-ADFF-FDDA2A697E00}"/>
              </a:ext>
            </a:extLst>
          </p:cNvPr>
          <p:cNvSpPr/>
          <p:nvPr/>
        </p:nvSpPr>
        <p:spPr>
          <a:xfrm>
            <a:off x="812800" y="2946400"/>
            <a:ext cx="127000" cy="127000"/>
          </a:xfrm>
          <a:prstGeom prst="rect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CC9EE21-2133-B2AF-3338-A106E57F53E1}"/>
              </a:ext>
            </a:extLst>
          </p:cNvPr>
          <p:cNvSpPr txBox="1"/>
          <p:nvPr/>
        </p:nvSpPr>
        <p:spPr>
          <a:xfrm>
            <a:off x="1143000" y="2870200"/>
            <a:ext cx="3302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600">
                <a:solidFill>
                  <a:srgbClr val="F3EDE3"/>
                </a:solidFill>
                <a:latin typeface="Segoe UI Semibold" panose="020B0702040204020203" pitchFamily="34" charset="0"/>
              </a:rPr>
              <a:t>Atendimento humano sempre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4DA555E-9A40-B109-0129-9B5B3CEE9351}"/>
              </a:ext>
            </a:extLst>
          </p:cNvPr>
          <p:cNvSpPr txBox="1"/>
          <p:nvPr/>
        </p:nvSpPr>
        <p:spPr>
          <a:xfrm>
            <a:off x="4572000" y="2882900"/>
            <a:ext cx="6807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400">
                <a:solidFill>
                  <a:srgbClr val="CFC6B8"/>
                </a:solidFill>
                <a:latin typeface="Segoe UI" panose="020B0502040204020203" pitchFamily="34" charset="0"/>
              </a:rPr>
              <a:t>O cliente sempre consegue falar com você.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A7771B9-A032-1BA6-2A50-B6EB28D6086B}"/>
              </a:ext>
            </a:extLst>
          </p:cNvPr>
          <p:cNvSpPr/>
          <p:nvPr/>
        </p:nvSpPr>
        <p:spPr>
          <a:xfrm>
            <a:off x="812800" y="3467100"/>
            <a:ext cx="10566400" cy="12700"/>
          </a:xfrm>
          <a:prstGeom prst="rect">
            <a:avLst/>
          </a:prstGeom>
          <a:solidFill>
            <a:srgbClr val="3A38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181C36D-1DA6-7626-6734-964D0D507485}"/>
              </a:ext>
            </a:extLst>
          </p:cNvPr>
          <p:cNvSpPr/>
          <p:nvPr/>
        </p:nvSpPr>
        <p:spPr>
          <a:xfrm>
            <a:off x="812800" y="3670300"/>
            <a:ext cx="127000" cy="127000"/>
          </a:xfrm>
          <a:prstGeom prst="rect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B0D6E5E-3746-E05F-98B6-66D31B863665}"/>
              </a:ext>
            </a:extLst>
          </p:cNvPr>
          <p:cNvSpPr txBox="1"/>
          <p:nvPr/>
        </p:nvSpPr>
        <p:spPr>
          <a:xfrm>
            <a:off x="1143000" y="3594100"/>
            <a:ext cx="3302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600">
                <a:solidFill>
                  <a:srgbClr val="F3EDE3"/>
                </a:solidFill>
                <a:latin typeface="Segoe UI Semibold" panose="020B0702040204020203" pitchFamily="34" charset="0"/>
              </a:rPr>
              <a:t>Dados protegidos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7B7730F-F2FB-1371-ECD9-52D533F1A9A2}"/>
              </a:ext>
            </a:extLst>
          </p:cNvPr>
          <p:cNvSpPr txBox="1"/>
          <p:nvPr/>
        </p:nvSpPr>
        <p:spPr>
          <a:xfrm>
            <a:off x="4572000" y="3606800"/>
            <a:ext cx="6807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400">
                <a:solidFill>
                  <a:srgbClr val="CFC6B8"/>
                </a:solidFill>
                <a:latin typeface="Segoe UI" panose="020B0502040204020203" pitchFamily="34" charset="0"/>
              </a:rPr>
              <a:t>Só o necessário, tratado conforme a LGPD e guardado fora de acesso público.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8CA46DA-B68F-14F1-D24B-154A011BDA72}"/>
              </a:ext>
            </a:extLst>
          </p:cNvPr>
          <p:cNvSpPr/>
          <p:nvPr/>
        </p:nvSpPr>
        <p:spPr>
          <a:xfrm>
            <a:off x="812800" y="4191000"/>
            <a:ext cx="10566400" cy="12700"/>
          </a:xfrm>
          <a:prstGeom prst="rect">
            <a:avLst/>
          </a:prstGeom>
          <a:solidFill>
            <a:srgbClr val="3A38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01FC885-2CE4-FFDE-ABC8-A98F4A9DF787}"/>
              </a:ext>
            </a:extLst>
          </p:cNvPr>
          <p:cNvSpPr/>
          <p:nvPr/>
        </p:nvSpPr>
        <p:spPr>
          <a:xfrm>
            <a:off x="812800" y="4394200"/>
            <a:ext cx="127000" cy="127000"/>
          </a:xfrm>
          <a:prstGeom prst="rect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C260FEA-DB12-2914-5A54-C7FCA0527949}"/>
              </a:ext>
            </a:extLst>
          </p:cNvPr>
          <p:cNvSpPr txBox="1"/>
          <p:nvPr/>
        </p:nvSpPr>
        <p:spPr>
          <a:xfrm>
            <a:off x="1143000" y="4318000"/>
            <a:ext cx="3302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600">
                <a:solidFill>
                  <a:srgbClr val="F3EDE3"/>
                </a:solidFill>
                <a:latin typeface="Segoe UI Semibold" panose="020B0702040204020203" pitchFamily="34" charset="0"/>
              </a:rPr>
              <a:t>Nada divulgado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D57A188-1A4F-48D6-A960-72E9276ECAD9}"/>
              </a:ext>
            </a:extLst>
          </p:cNvPr>
          <p:cNvSpPr txBox="1"/>
          <p:nvPr/>
        </p:nvSpPr>
        <p:spPr>
          <a:xfrm>
            <a:off x="4572000" y="4330700"/>
            <a:ext cx="6807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400">
                <a:solidFill>
                  <a:srgbClr val="CFC6B8"/>
                </a:solidFill>
                <a:latin typeface="Segoe UI" panose="020B0502040204020203" pitchFamily="34" charset="0"/>
              </a:rPr>
              <a:t>Nome, fotos ou números da barbearia só com sua autorização por escrito.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B87BEF60-7E86-BC7D-FCB2-E4BEFC73C442}"/>
              </a:ext>
            </a:extLst>
          </p:cNvPr>
          <p:cNvSpPr/>
          <p:nvPr/>
        </p:nvSpPr>
        <p:spPr>
          <a:xfrm>
            <a:off x="812800" y="4914900"/>
            <a:ext cx="10566400" cy="12700"/>
          </a:xfrm>
          <a:prstGeom prst="rect">
            <a:avLst/>
          </a:prstGeom>
          <a:solidFill>
            <a:srgbClr val="3A38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3454D89C-8086-BBFD-7111-2208E3547165}"/>
              </a:ext>
            </a:extLst>
          </p:cNvPr>
          <p:cNvSpPr/>
          <p:nvPr/>
        </p:nvSpPr>
        <p:spPr>
          <a:xfrm>
            <a:off x="812800" y="5118100"/>
            <a:ext cx="127000" cy="127000"/>
          </a:xfrm>
          <a:prstGeom prst="rect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742CCCCE-FF91-D8C5-973A-4056B3EA2787}"/>
              </a:ext>
            </a:extLst>
          </p:cNvPr>
          <p:cNvSpPr txBox="1"/>
          <p:nvPr/>
        </p:nvSpPr>
        <p:spPr>
          <a:xfrm>
            <a:off x="1143000" y="5041900"/>
            <a:ext cx="3302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600">
                <a:solidFill>
                  <a:srgbClr val="F3EDE3"/>
                </a:solidFill>
                <a:latin typeface="Segoe UI Semibold" panose="020B0702040204020203" pitchFamily="34" charset="0"/>
              </a:rPr>
              <a:t>Pode parar quando quiser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234CC13-C857-54A1-8770-7F938EFB1DE2}"/>
              </a:ext>
            </a:extLst>
          </p:cNvPr>
          <p:cNvSpPr txBox="1"/>
          <p:nvPr/>
        </p:nvSpPr>
        <p:spPr>
          <a:xfrm>
            <a:off x="4572000" y="5054600"/>
            <a:ext cx="6807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400">
                <a:solidFill>
                  <a:srgbClr val="CFC6B8"/>
                </a:solidFill>
                <a:latin typeface="Segoe UI" panose="020B0502040204020203" pitchFamily="34" charset="0"/>
              </a:rPr>
              <a:t>Sem custo e sem constrangimento.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2E80BAB-0C5B-2692-47D9-B67C1B8B5108}"/>
              </a:ext>
            </a:extLst>
          </p:cNvPr>
          <p:cNvSpPr txBox="1"/>
          <p:nvPr/>
        </p:nvSpPr>
        <p:spPr>
          <a:xfrm>
            <a:off x="812800" y="64516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900">
                <a:solidFill>
                  <a:srgbClr val="CFC6B8"/>
                </a:solidFill>
                <a:latin typeface="Segoe UI" panose="020B0502040204020203" pitchFamily="34" charset="0"/>
              </a:rPr>
              <a:t>Diagnóstico gratuito  ·  Projeto AJ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1D3AE662-65E3-3AF1-AEE7-C955F4C0666D}"/>
              </a:ext>
            </a:extLst>
          </p:cNvPr>
          <p:cNvSpPr txBox="1"/>
          <p:nvPr/>
        </p:nvSpPr>
        <p:spPr>
          <a:xfrm>
            <a:off x="10109200" y="64516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lang="pt-BR" sz="900">
                <a:solidFill>
                  <a:srgbClr val="CFC6B8"/>
                </a:solidFill>
                <a:latin typeface="Segoe UI" panose="020B0502040204020203" pitchFamily="34" charset="0"/>
              </a:rPr>
              <a:t>11 / 13</a:t>
            </a:r>
          </a:p>
        </p:txBody>
      </p:sp>
    </p:spTree>
    <p:extLst>
      <p:ext uri="{BB962C8B-B14F-4D97-AF65-F5344CB8AC3E}">
        <p14:creationId xmlns:p14="http://schemas.microsoft.com/office/powerpoint/2010/main" val="259925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0FF6C4E-FD7A-5A27-06AF-100FF2052401}"/>
              </a:ext>
            </a:extLst>
          </p:cNvPr>
          <p:cNvSpPr/>
          <p:nvPr/>
        </p:nvSpPr>
        <p:spPr>
          <a:xfrm>
            <a:off x="812800" y="635000"/>
            <a:ext cx="355600" cy="38100"/>
          </a:xfrm>
          <a:prstGeom prst="rect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66B5ABF-95EE-FC0F-5BE0-FED0671B13AB}"/>
              </a:ext>
            </a:extLst>
          </p:cNvPr>
          <p:cNvSpPr txBox="1"/>
          <p:nvPr/>
        </p:nvSpPr>
        <p:spPr>
          <a:xfrm>
            <a:off x="812800" y="787400"/>
            <a:ext cx="965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100">
                <a:solidFill>
                  <a:srgbClr val="B8893B"/>
                </a:solidFill>
                <a:latin typeface="Segoe UI Semibold" panose="020B0702040204020203" pitchFamily="34" charset="0"/>
              </a:rPr>
              <a:t>DEPOIS DO DIAGNÓSTICO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9F9FD71-E909-50E7-F5FE-9221570BAA86}"/>
              </a:ext>
            </a:extLst>
          </p:cNvPr>
          <p:cNvSpPr txBox="1"/>
          <p:nvPr/>
        </p:nvSpPr>
        <p:spPr>
          <a:xfrm>
            <a:off x="812800" y="1066800"/>
            <a:ext cx="105664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000">
                <a:solidFill>
                  <a:srgbClr val="2A2826"/>
                </a:solidFill>
                <a:latin typeface="Georgia" panose="02040502050405020303" pitchFamily="18" charset="0"/>
              </a:rPr>
              <a:t>E depois? Você decide.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95CB44C-C039-B53F-D6B7-AF6C81281509}"/>
              </a:ext>
            </a:extLst>
          </p:cNvPr>
          <p:cNvSpPr/>
          <p:nvPr/>
        </p:nvSpPr>
        <p:spPr>
          <a:xfrm>
            <a:off x="812800" y="2362200"/>
            <a:ext cx="5130800" cy="2235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8DA1CD3-50F1-7F13-64E8-50F4107C32F4}"/>
              </a:ext>
            </a:extLst>
          </p:cNvPr>
          <p:cNvSpPr/>
          <p:nvPr/>
        </p:nvSpPr>
        <p:spPr>
          <a:xfrm>
            <a:off x="812800" y="2362200"/>
            <a:ext cx="5130800" cy="63500"/>
          </a:xfrm>
          <a:prstGeom prst="rect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EF46211-376D-E93E-4BF0-3102E3EDAABD}"/>
              </a:ext>
            </a:extLst>
          </p:cNvPr>
          <p:cNvSpPr txBox="1"/>
          <p:nvPr/>
        </p:nvSpPr>
        <p:spPr>
          <a:xfrm>
            <a:off x="1168400" y="2743200"/>
            <a:ext cx="444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2400">
                <a:solidFill>
                  <a:srgbClr val="2A2826"/>
                </a:solidFill>
                <a:latin typeface="Georgia" panose="02040502050405020303" pitchFamily="18" charset="0"/>
              </a:rPr>
              <a:t>Se fizer sentido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B8769D4-44A6-F6CC-A085-CCB68616327F}"/>
              </a:ext>
            </a:extLst>
          </p:cNvPr>
          <p:cNvSpPr txBox="1"/>
          <p:nvPr/>
        </p:nvSpPr>
        <p:spPr>
          <a:xfrm>
            <a:off x="1168400" y="3327400"/>
            <a:ext cx="444500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500">
                <a:solidFill>
                  <a:srgbClr val="6B6660"/>
                </a:solidFill>
                <a:latin typeface="Segoe UI" panose="020B0502040204020203" pitchFamily="34" charset="0"/>
              </a:rPr>
              <a:t>Montamos juntos uma proposta de implantação: o que será feito, custo, prazo e suporte, tudo combinado antes de começar.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EF14A1A-9E7F-0B32-8967-3D2C9925DD50}"/>
              </a:ext>
            </a:extLst>
          </p:cNvPr>
          <p:cNvSpPr/>
          <p:nvPr/>
        </p:nvSpPr>
        <p:spPr>
          <a:xfrm>
            <a:off x="6248400" y="2362200"/>
            <a:ext cx="5130800" cy="2235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CE79EF1-7AF8-9E2F-4C1B-69D2655C8126}"/>
              </a:ext>
            </a:extLst>
          </p:cNvPr>
          <p:cNvSpPr/>
          <p:nvPr/>
        </p:nvSpPr>
        <p:spPr>
          <a:xfrm>
            <a:off x="6248400" y="2362200"/>
            <a:ext cx="5130800" cy="63500"/>
          </a:xfrm>
          <a:prstGeom prst="rect">
            <a:avLst/>
          </a:prstGeom>
          <a:solidFill>
            <a:srgbClr val="6B66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A8AC314-6D5F-37A7-D7AE-FC36F005F043}"/>
              </a:ext>
            </a:extLst>
          </p:cNvPr>
          <p:cNvSpPr txBox="1"/>
          <p:nvPr/>
        </p:nvSpPr>
        <p:spPr>
          <a:xfrm>
            <a:off x="6604000" y="2743200"/>
            <a:ext cx="444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2400">
                <a:solidFill>
                  <a:srgbClr val="2A2826"/>
                </a:solidFill>
                <a:latin typeface="Georgia" panose="02040502050405020303" pitchFamily="18" charset="0"/>
              </a:rPr>
              <a:t>Se não fizer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E03D717-A424-0925-A156-A7DC8FF392F3}"/>
              </a:ext>
            </a:extLst>
          </p:cNvPr>
          <p:cNvSpPr txBox="1"/>
          <p:nvPr/>
        </p:nvSpPr>
        <p:spPr>
          <a:xfrm>
            <a:off x="6604000" y="3327400"/>
            <a:ext cx="444500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500">
                <a:solidFill>
                  <a:srgbClr val="6B6660"/>
                </a:solidFill>
                <a:latin typeface="Segoe UI" panose="020B0502040204020203" pitchFamily="34" charset="0"/>
              </a:rPr>
              <a:t>Você fica com o diagnóstico da sua rotina. Sem custo e sem compromisso.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A419D26-2C8B-0830-E734-17920C270339}"/>
              </a:ext>
            </a:extLst>
          </p:cNvPr>
          <p:cNvSpPr txBox="1"/>
          <p:nvPr/>
        </p:nvSpPr>
        <p:spPr>
          <a:xfrm>
            <a:off x="812800" y="5003800"/>
            <a:ext cx="105664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400" i="1">
                <a:solidFill>
                  <a:srgbClr val="2A2826"/>
                </a:solidFill>
                <a:latin typeface="Segoe UI" panose="020B0502040204020203" pitchFamily="34" charset="0"/>
              </a:rPr>
              <a:t>Em qualquer caso, você termina conhecendo melhor o próprio negócio.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9E90DF0-88A4-AE36-592E-1C48CFB38213}"/>
              </a:ext>
            </a:extLst>
          </p:cNvPr>
          <p:cNvSpPr txBox="1"/>
          <p:nvPr/>
        </p:nvSpPr>
        <p:spPr>
          <a:xfrm>
            <a:off x="812800" y="64516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900">
                <a:solidFill>
                  <a:srgbClr val="6B6660"/>
                </a:solidFill>
                <a:latin typeface="Segoe UI" panose="020B0502040204020203" pitchFamily="34" charset="0"/>
              </a:rPr>
              <a:t>Diagnóstico gratuito  ·  Projeto AJ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B791C65-85CA-AB6F-73AD-CA8AE0F81254}"/>
              </a:ext>
            </a:extLst>
          </p:cNvPr>
          <p:cNvSpPr txBox="1"/>
          <p:nvPr/>
        </p:nvSpPr>
        <p:spPr>
          <a:xfrm>
            <a:off x="10109200" y="64516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lang="pt-BR" sz="900">
                <a:solidFill>
                  <a:srgbClr val="6B6660"/>
                </a:solidFill>
                <a:latin typeface="Segoe UI" panose="020B0502040204020203" pitchFamily="34" charset="0"/>
              </a:rPr>
              <a:t>12 / 13</a:t>
            </a:r>
          </a:p>
        </p:txBody>
      </p:sp>
    </p:spTree>
    <p:extLst>
      <p:ext uri="{BB962C8B-B14F-4D97-AF65-F5344CB8AC3E}">
        <p14:creationId xmlns:p14="http://schemas.microsoft.com/office/powerpoint/2010/main" val="1039463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C9781905-81F7-0B52-015B-151DB0217DE5}"/>
              </a:ext>
            </a:extLst>
          </p:cNvPr>
          <p:cNvCxnSpPr/>
          <p:nvPr/>
        </p:nvCxnSpPr>
        <p:spPr>
          <a:xfrm flipV="1">
            <a:off x="11074400" y="-762000"/>
            <a:ext cx="381000" cy="381000"/>
          </a:xfrm>
          <a:prstGeom prst="line">
            <a:avLst/>
          </a:prstGeom>
          <a:ln w="184150">
            <a:solidFill>
              <a:srgbClr val="A83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87FCCDAE-A168-DD2C-C551-220432F4ABF2}"/>
              </a:ext>
            </a:extLst>
          </p:cNvPr>
          <p:cNvCxnSpPr/>
          <p:nvPr/>
        </p:nvCxnSpPr>
        <p:spPr>
          <a:xfrm flipV="1">
            <a:off x="11074400" y="-508000"/>
            <a:ext cx="381000" cy="381000"/>
          </a:xfrm>
          <a:prstGeom prst="line">
            <a:avLst/>
          </a:prstGeom>
          <a:ln w="184150">
            <a:solidFill>
              <a:srgbClr val="F3E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C1FC416F-019E-D519-A920-B37A5C2C34E8}"/>
              </a:ext>
            </a:extLst>
          </p:cNvPr>
          <p:cNvCxnSpPr/>
          <p:nvPr/>
        </p:nvCxnSpPr>
        <p:spPr>
          <a:xfrm flipV="1">
            <a:off x="11074400" y="-254000"/>
            <a:ext cx="381000" cy="381000"/>
          </a:xfrm>
          <a:prstGeom prst="line">
            <a:avLst/>
          </a:prstGeom>
          <a:ln w="184150">
            <a:solidFill>
              <a:srgbClr val="A83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AEC09E4A-DDBA-DA30-CC56-8714CBE03EB2}"/>
              </a:ext>
            </a:extLst>
          </p:cNvPr>
          <p:cNvCxnSpPr/>
          <p:nvPr/>
        </p:nvCxnSpPr>
        <p:spPr>
          <a:xfrm flipV="1">
            <a:off x="11074400" y="0"/>
            <a:ext cx="381000" cy="381000"/>
          </a:xfrm>
          <a:prstGeom prst="line">
            <a:avLst/>
          </a:prstGeom>
          <a:ln w="184150">
            <a:solidFill>
              <a:srgbClr val="F3E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C64B5A05-D7E9-15A0-E2E1-1769FFD94165}"/>
              </a:ext>
            </a:extLst>
          </p:cNvPr>
          <p:cNvCxnSpPr/>
          <p:nvPr/>
        </p:nvCxnSpPr>
        <p:spPr>
          <a:xfrm flipV="1">
            <a:off x="11074400" y="254000"/>
            <a:ext cx="381000" cy="381000"/>
          </a:xfrm>
          <a:prstGeom prst="line">
            <a:avLst/>
          </a:prstGeom>
          <a:ln w="184150">
            <a:solidFill>
              <a:srgbClr val="A83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3A8758F-CA3C-69D7-C324-5AB31221ABA1}"/>
              </a:ext>
            </a:extLst>
          </p:cNvPr>
          <p:cNvCxnSpPr/>
          <p:nvPr/>
        </p:nvCxnSpPr>
        <p:spPr>
          <a:xfrm flipV="1">
            <a:off x="11074400" y="508000"/>
            <a:ext cx="381000" cy="381000"/>
          </a:xfrm>
          <a:prstGeom prst="line">
            <a:avLst/>
          </a:prstGeom>
          <a:ln w="184150">
            <a:solidFill>
              <a:srgbClr val="F3E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886D4F03-AE56-F2CA-4107-2D300D2A20D7}"/>
              </a:ext>
            </a:extLst>
          </p:cNvPr>
          <p:cNvCxnSpPr/>
          <p:nvPr/>
        </p:nvCxnSpPr>
        <p:spPr>
          <a:xfrm flipV="1">
            <a:off x="11074400" y="762000"/>
            <a:ext cx="381000" cy="381000"/>
          </a:xfrm>
          <a:prstGeom prst="line">
            <a:avLst/>
          </a:prstGeom>
          <a:ln w="184150">
            <a:solidFill>
              <a:srgbClr val="A83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3CECDD33-E6F3-276B-6B38-89D8E1DA9287}"/>
              </a:ext>
            </a:extLst>
          </p:cNvPr>
          <p:cNvCxnSpPr/>
          <p:nvPr/>
        </p:nvCxnSpPr>
        <p:spPr>
          <a:xfrm flipV="1">
            <a:off x="11074400" y="1016000"/>
            <a:ext cx="381000" cy="381000"/>
          </a:xfrm>
          <a:prstGeom prst="line">
            <a:avLst/>
          </a:prstGeom>
          <a:ln w="184150">
            <a:solidFill>
              <a:srgbClr val="F3E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9FC650F-204C-E7DC-F4F9-429323175AF3}"/>
              </a:ext>
            </a:extLst>
          </p:cNvPr>
          <p:cNvCxnSpPr/>
          <p:nvPr/>
        </p:nvCxnSpPr>
        <p:spPr>
          <a:xfrm flipV="1">
            <a:off x="11074400" y="1270000"/>
            <a:ext cx="381000" cy="381000"/>
          </a:xfrm>
          <a:prstGeom prst="line">
            <a:avLst/>
          </a:prstGeom>
          <a:ln w="184150">
            <a:solidFill>
              <a:srgbClr val="A83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35EF5F93-3C0D-AD4A-EAFF-FA361C6F8A30}"/>
              </a:ext>
            </a:extLst>
          </p:cNvPr>
          <p:cNvCxnSpPr/>
          <p:nvPr/>
        </p:nvCxnSpPr>
        <p:spPr>
          <a:xfrm flipV="1">
            <a:off x="11074400" y="1524000"/>
            <a:ext cx="381000" cy="381000"/>
          </a:xfrm>
          <a:prstGeom prst="line">
            <a:avLst/>
          </a:prstGeom>
          <a:ln w="184150">
            <a:solidFill>
              <a:srgbClr val="F3E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E6B7F937-3A58-7000-DEE0-F013FFDFA84F}"/>
              </a:ext>
            </a:extLst>
          </p:cNvPr>
          <p:cNvCxnSpPr/>
          <p:nvPr/>
        </p:nvCxnSpPr>
        <p:spPr>
          <a:xfrm flipV="1">
            <a:off x="11074400" y="1778000"/>
            <a:ext cx="381000" cy="381000"/>
          </a:xfrm>
          <a:prstGeom prst="line">
            <a:avLst/>
          </a:prstGeom>
          <a:ln w="184150">
            <a:solidFill>
              <a:srgbClr val="A83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9D18637B-A4D7-C38A-F620-A809EB51EAFE}"/>
              </a:ext>
            </a:extLst>
          </p:cNvPr>
          <p:cNvCxnSpPr/>
          <p:nvPr/>
        </p:nvCxnSpPr>
        <p:spPr>
          <a:xfrm flipV="1">
            <a:off x="11074400" y="2032000"/>
            <a:ext cx="381000" cy="381000"/>
          </a:xfrm>
          <a:prstGeom prst="line">
            <a:avLst/>
          </a:prstGeom>
          <a:ln w="184150">
            <a:solidFill>
              <a:srgbClr val="F3E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946D4ACA-0CAB-84D3-9B24-F2FF2A57C5EF}"/>
              </a:ext>
            </a:extLst>
          </p:cNvPr>
          <p:cNvCxnSpPr/>
          <p:nvPr/>
        </p:nvCxnSpPr>
        <p:spPr>
          <a:xfrm flipV="1">
            <a:off x="11074400" y="2286000"/>
            <a:ext cx="381000" cy="381000"/>
          </a:xfrm>
          <a:prstGeom prst="line">
            <a:avLst/>
          </a:prstGeom>
          <a:ln w="184150">
            <a:solidFill>
              <a:srgbClr val="A83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9CAD47F3-996C-270D-B879-B4F4F43AEA89}"/>
              </a:ext>
            </a:extLst>
          </p:cNvPr>
          <p:cNvCxnSpPr/>
          <p:nvPr/>
        </p:nvCxnSpPr>
        <p:spPr>
          <a:xfrm flipV="1">
            <a:off x="11074400" y="2540000"/>
            <a:ext cx="381000" cy="381000"/>
          </a:xfrm>
          <a:prstGeom prst="line">
            <a:avLst/>
          </a:prstGeom>
          <a:ln w="184150">
            <a:solidFill>
              <a:srgbClr val="F3E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1E5053CC-DFF1-A10F-565B-76A2A03B4CCD}"/>
              </a:ext>
            </a:extLst>
          </p:cNvPr>
          <p:cNvCxnSpPr/>
          <p:nvPr/>
        </p:nvCxnSpPr>
        <p:spPr>
          <a:xfrm flipV="1">
            <a:off x="11074400" y="2794000"/>
            <a:ext cx="381000" cy="381000"/>
          </a:xfrm>
          <a:prstGeom prst="line">
            <a:avLst/>
          </a:prstGeom>
          <a:ln w="184150">
            <a:solidFill>
              <a:srgbClr val="A83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DD936A5B-62C8-A361-0A5B-9199A6460917}"/>
              </a:ext>
            </a:extLst>
          </p:cNvPr>
          <p:cNvCxnSpPr/>
          <p:nvPr/>
        </p:nvCxnSpPr>
        <p:spPr>
          <a:xfrm flipV="1">
            <a:off x="11074400" y="3048000"/>
            <a:ext cx="381000" cy="381000"/>
          </a:xfrm>
          <a:prstGeom prst="line">
            <a:avLst/>
          </a:prstGeom>
          <a:ln w="184150">
            <a:solidFill>
              <a:srgbClr val="F3E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7B451B11-AC56-2FDD-0138-12F427EA7A81}"/>
              </a:ext>
            </a:extLst>
          </p:cNvPr>
          <p:cNvCxnSpPr/>
          <p:nvPr/>
        </p:nvCxnSpPr>
        <p:spPr>
          <a:xfrm flipV="1">
            <a:off x="11074400" y="3302000"/>
            <a:ext cx="381000" cy="381000"/>
          </a:xfrm>
          <a:prstGeom prst="line">
            <a:avLst/>
          </a:prstGeom>
          <a:ln w="184150">
            <a:solidFill>
              <a:srgbClr val="A83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434AE2A4-1BDA-C746-91CC-A17C1EC2FAB9}"/>
              </a:ext>
            </a:extLst>
          </p:cNvPr>
          <p:cNvCxnSpPr/>
          <p:nvPr/>
        </p:nvCxnSpPr>
        <p:spPr>
          <a:xfrm flipV="1">
            <a:off x="11074400" y="3556000"/>
            <a:ext cx="381000" cy="381000"/>
          </a:xfrm>
          <a:prstGeom prst="line">
            <a:avLst/>
          </a:prstGeom>
          <a:ln w="184150">
            <a:solidFill>
              <a:srgbClr val="F3E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7D7D4CC3-9405-2CF4-AD42-45E3695AD03E}"/>
              </a:ext>
            </a:extLst>
          </p:cNvPr>
          <p:cNvCxnSpPr/>
          <p:nvPr/>
        </p:nvCxnSpPr>
        <p:spPr>
          <a:xfrm flipV="1">
            <a:off x="11074400" y="3810000"/>
            <a:ext cx="381000" cy="381000"/>
          </a:xfrm>
          <a:prstGeom prst="line">
            <a:avLst/>
          </a:prstGeom>
          <a:ln w="184150">
            <a:solidFill>
              <a:srgbClr val="A83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87B7708D-6BE3-5D7C-43A3-030FCC0BAFCF}"/>
              </a:ext>
            </a:extLst>
          </p:cNvPr>
          <p:cNvCxnSpPr/>
          <p:nvPr/>
        </p:nvCxnSpPr>
        <p:spPr>
          <a:xfrm flipV="1">
            <a:off x="11074400" y="4064000"/>
            <a:ext cx="381000" cy="381000"/>
          </a:xfrm>
          <a:prstGeom prst="line">
            <a:avLst/>
          </a:prstGeom>
          <a:ln w="184150">
            <a:solidFill>
              <a:srgbClr val="F3E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15363665-6289-93E7-EF3D-2BB1EFED64F0}"/>
              </a:ext>
            </a:extLst>
          </p:cNvPr>
          <p:cNvCxnSpPr/>
          <p:nvPr/>
        </p:nvCxnSpPr>
        <p:spPr>
          <a:xfrm flipV="1">
            <a:off x="11074400" y="4318000"/>
            <a:ext cx="381000" cy="381000"/>
          </a:xfrm>
          <a:prstGeom prst="line">
            <a:avLst/>
          </a:prstGeom>
          <a:ln w="184150">
            <a:solidFill>
              <a:srgbClr val="A83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59413782-E656-64E2-F2FF-44CC559FECF5}"/>
              </a:ext>
            </a:extLst>
          </p:cNvPr>
          <p:cNvCxnSpPr/>
          <p:nvPr/>
        </p:nvCxnSpPr>
        <p:spPr>
          <a:xfrm flipV="1">
            <a:off x="11074400" y="4572000"/>
            <a:ext cx="381000" cy="381000"/>
          </a:xfrm>
          <a:prstGeom prst="line">
            <a:avLst/>
          </a:prstGeom>
          <a:ln w="184150">
            <a:solidFill>
              <a:srgbClr val="F3E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39F6803C-E443-036F-BC4F-8F7BFABCBF76}"/>
              </a:ext>
            </a:extLst>
          </p:cNvPr>
          <p:cNvCxnSpPr/>
          <p:nvPr/>
        </p:nvCxnSpPr>
        <p:spPr>
          <a:xfrm flipV="1">
            <a:off x="11074400" y="4826000"/>
            <a:ext cx="381000" cy="381000"/>
          </a:xfrm>
          <a:prstGeom prst="line">
            <a:avLst/>
          </a:prstGeom>
          <a:ln w="184150">
            <a:solidFill>
              <a:srgbClr val="A83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C0B2831E-D3F9-8D7A-685E-7B87503CF0BB}"/>
              </a:ext>
            </a:extLst>
          </p:cNvPr>
          <p:cNvCxnSpPr/>
          <p:nvPr/>
        </p:nvCxnSpPr>
        <p:spPr>
          <a:xfrm flipV="1">
            <a:off x="11074400" y="5080000"/>
            <a:ext cx="381000" cy="381000"/>
          </a:xfrm>
          <a:prstGeom prst="line">
            <a:avLst/>
          </a:prstGeom>
          <a:ln w="184150">
            <a:solidFill>
              <a:srgbClr val="F3E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E20BD3B3-67AA-22FB-7B0B-4A8FC804BD51}"/>
              </a:ext>
            </a:extLst>
          </p:cNvPr>
          <p:cNvCxnSpPr/>
          <p:nvPr/>
        </p:nvCxnSpPr>
        <p:spPr>
          <a:xfrm flipV="1">
            <a:off x="11074400" y="5334000"/>
            <a:ext cx="381000" cy="381000"/>
          </a:xfrm>
          <a:prstGeom prst="line">
            <a:avLst/>
          </a:prstGeom>
          <a:ln w="184150">
            <a:solidFill>
              <a:srgbClr val="A83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268D1902-0C6C-942A-DCC6-A0ED7FC4C944}"/>
              </a:ext>
            </a:extLst>
          </p:cNvPr>
          <p:cNvCxnSpPr/>
          <p:nvPr/>
        </p:nvCxnSpPr>
        <p:spPr>
          <a:xfrm flipV="1">
            <a:off x="11074400" y="5588000"/>
            <a:ext cx="381000" cy="381000"/>
          </a:xfrm>
          <a:prstGeom prst="line">
            <a:avLst/>
          </a:prstGeom>
          <a:ln w="184150">
            <a:solidFill>
              <a:srgbClr val="F3E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271D42F0-FCC1-A19F-2D52-4BA7669D5965}"/>
              </a:ext>
            </a:extLst>
          </p:cNvPr>
          <p:cNvCxnSpPr/>
          <p:nvPr/>
        </p:nvCxnSpPr>
        <p:spPr>
          <a:xfrm flipV="1">
            <a:off x="11074400" y="5842000"/>
            <a:ext cx="381000" cy="381000"/>
          </a:xfrm>
          <a:prstGeom prst="line">
            <a:avLst/>
          </a:prstGeom>
          <a:ln w="184150">
            <a:solidFill>
              <a:srgbClr val="A83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84E094B9-59CB-52B8-1EA7-8852C5DE750D}"/>
              </a:ext>
            </a:extLst>
          </p:cNvPr>
          <p:cNvCxnSpPr/>
          <p:nvPr/>
        </p:nvCxnSpPr>
        <p:spPr>
          <a:xfrm flipV="1">
            <a:off x="11074400" y="6096000"/>
            <a:ext cx="381000" cy="381000"/>
          </a:xfrm>
          <a:prstGeom prst="line">
            <a:avLst/>
          </a:prstGeom>
          <a:ln w="184150">
            <a:solidFill>
              <a:srgbClr val="F3E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D7868ED7-427A-B5E9-17AF-4A32B91DB113}"/>
              </a:ext>
            </a:extLst>
          </p:cNvPr>
          <p:cNvCxnSpPr/>
          <p:nvPr/>
        </p:nvCxnSpPr>
        <p:spPr>
          <a:xfrm flipV="1">
            <a:off x="11074400" y="6350000"/>
            <a:ext cx="381000" cy="381000"/>
          </a:xfrm>
          <a:prstGeom prst="line">
            <a:avLst/>
          </a:prstGeom>
          <a:ln w="184150">
            <a:solidFill>
              <a:srgbClr val="A83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DC9B21D5-23AB-218B-4D7F-DFE81C7514D7}"/>
              </a:ext>
            </a:extLst>
          </p:cNvPr>
          <p:cNvCxnSpPr/>
          <p:nvPr/>
        </p:nvCxnSpPr>
        <p:spPr>
          <a:xfrm flipV="1">
            <a:off x="11074400" y="6604000"/>
            <a:ext cx="381000" cy="381000"/>
          </a:xfrm>
          <a:prstGeom prst="line">
            <a:avLst/>
          </a:prstGeom>
          <a:ln w="184150">
            <a:solidFill>
              <a:srgbClr val="F3E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0B25460A-C6AB-461A-BA70-ABD558C707CF}"/>
              </a:ext>
            </a:extLst>
          </p:cNvPr>
          <p:cNvCxnSpPr/>
          <p:nvPr/>
        </p:nvCxnSpPr>
        <p:spPr>
          <a:xfrm flipV="1">
            <a:off x="11074400" y="6858000"/>
            <a:ext cx="381000" cy="381000"/>
          </a:xfrm>
          <a:prstGeom prst="line">
            <a:avLst/>
          </a:prstGeom>
          <a:ln w="184150">
            <a:solidFill>
              <a:srgbClr val="A83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028C56FD-9E90-AFCA-5AD6-76B1BBD02275}"/>
              </a:ext>
            </a:extLst>
          </p:cNvPr>
          <p:cNvCxnSpPr/>
          <p:nvPr/>
        </p:nvCxnSpPr>
        <p:spPr>
          <a:xfrm flipV="1">
            <a:off x="11074400" y="7112000"/>
            <a:ext cx="381000" cy="381000"/>
          </a:xfrm>
          <a:prstGeom prst="line">
            <a:avLst/>
          </a:prstGeom>
          <a:ln w="184150">
            <a:solidFill>
              <a:srgbClr val="F3E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C256329B-BBA7-D042-A1EE-D456166C75BE}"/>
              </a:ext>
            </a:extLst>
          </p:cNvPr>
          <p:cNvCxnSpPr/>
          <p:nvPr/>
        </p:nvCxnSpPr>
        <p:spPr>
          <a:xfrm flipV="1">
            <a:off x="11074400" y="7366000"/>
            <a:ext cx="381000" cy="381000"/>
          </a:xfrm>
          <a:prstGeom prst="line">
            <a:avLst/>
          </a:prstGeom>
          <a:ln w="184150">
            <a:solidFill>
              <a:srgbClr val="A83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tângulo 34">
            <a:extLst>
              <a:ext uri="{FF2B5EF4-FFF2-40B4-BE49-F238E27FC236}">
                <a16:creationId xmlns:a16="http://schemas.microsoft.com/office/drawing/2014/main" id="{F8183051-0105-585B-10FF-2D79B611F666}"/>
              </a:ext>
            </a:extLst>
          </p:cNvPr>
          <p:cNvSpPr/>
          <p:nvPr/>
        </p:nvSpPr>
        <p:spPr>
          <a:xfrm>
            <a:off x="10769600" y="0"/>
            <a:ext cx="304800" cy="6858000"/>
          </a:xfrm>
          <a:prstGeom prst="rect">
            <a:avLst/>
          </a:prstGeom>
          <a:solidFill>
            <a:srgbClr val="1C1B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676A7392-F4C1-AC56-6A1D-01FFA4213C40}"/>
              </a:ext>
            </a:extLst>
          </p:cNvPr>
          <p:cNvSpPr/>
          <p:nvPr/>
        </p:nvSpPr>
        <p:spPr>
          <a:xfrm>
            <a:off x="11455400" y="0"/>
            <a:ext cx="304800" cy="6858000"/>
          </a:xfrm>
          <a:prstGeom prst="rect">
            <a:avLst/>
          </a:prstGeom>
          <a:solidFill>
            <a:srgbClr val="1C1B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1CA3F26A-5732-E1CD-359F-F7E672CBD69B}"/>
              </a:ext>
            </a:extLst>
          </p:cNvPr>
          <p:cNvSpPr/>
          <p:nvPr/>
        </p:nvSpPr>
        <p:spPr>
          <a:xfrm>
            <a:off x="11036300" y="0"/>
            <a:ext cx="38100" cy="6858000"/>
          </a:xfrm>
          <a:prstGeom prst="rect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5AA29D59-9C6D-836F-0939-2BFCA356B932}"/>
              </a:ext>
            </a:extLst>
          </p:cNvPr>
          <p:cNvSpPr/>
          <p:nvPr/>
        </p:nvSpPr>
        <p:spPr>
          <a:xfrm>
            <a:off x="11455400" y="0"/>
            <a:ext cx="38100" cy="6858000"/>
          </a:xfrm>
          <a:prstGeom prst="rect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5D93B6C9-D4E7-3471-1856-CA92CF0D88C6}"/>
              </a:ext>
            </a:extLst>
          </p:cNvPr>
          <p:cNvSpPr/>
          <p:nvPr/>
        </p:nvSpPr>
        <p:spPr>
          <a:xfrm>
            <a:off x="812800" y="1219200"/>
            <a:ext cx="355600" cy="38100"/>
          </a:xfrm>
          <a:prstGeom prst="rect">
            <a:avLst/>
          </a:prstGeom>
          <a:solidFill>
            <a:srgbClr val="B88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11CE4EDE-6AA8-E769-34D2-3D12FAD0A06F}"/>
              </a:ext>
            </a:extLst>
          </p:cNvPr>
          <p:cNvSpPr txBox="1"/>
          <p:nvPr/>
        </p:nvSpPr>
        <p:spPr>
          <a:xfrm>
            <a:off x="812800" y="1371600"/>
            <a:ext cx="965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100">
                <a:solidFill>
                  <a:srgbClr val="B8893B"/>
                </a:solidFill>
                <a:latin typeface="Segoe UI Semibold" panose="020B0702040204020203" pitchFamily="34" charset="0"/>
              </a:rPr>
              <a:t>PRÓXIMOS PASSOS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677B2684-9B9E-C7BF-3F40-CCD7EA9A4AC1}"/>
              </a:ext>
            </a:extLst>
          </p:cNvPr>
          <p:cNvSpPr txBox="1"/>
          <p:nvPr/>
        </p:nvSpPr>
        <p:spPr>
          <a:xfrm>
            <a:off x="812800" y="1600200"/>
            <a:ext cx="8890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5400">
                <a:solidFill>
                  <a:srgbClr val="F3EDE3"/>
                </a:solidFill>
                <a:latin typeface="Georgia" panose="02040502050405020303" pitchFamily="18" charset="0"/>
              </a:rPr>
              <a:t>Topa começar?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3F67A48E-EF81-DCF1-07FF-2B669AD97B49}"/>
              </a:ext>
            </a:extLst>
          </p:cNvPr>
          <p:cNvSpPr txBox="1"/>
          <p:nvPr/>
        </p:nvSpPr>
        <p:spPr>
          <a:xfrm>
            <a:off x="812800" y="3048000"/>
            <a:ext cx="228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300">
                <a:solidFill>
                  <a:srgbClr val="B8893B"/>
                </a:solidFill>
                <a:latin typeface="Segoe UI Semibold" panose="020B0702040204020203" pitchFamily="34" charset="0"/>
              </a:rPr>
              <a:t>HOJE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00FD8CF6-7797-2ED8-F879-DE14D5338695}"/>
              </a:ext>
            </a:extLst>
          </p:cNvPr>
          <p:cNvSpPr txBox="1"/>
          <p:nvPr/>
        </p:nvSpPr>
        <p:spPr>
          <a:xfrm>
            <a:off x="3175000" y="2997200"/>
            <a:ext cx="711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900">
                <a:solidFill>
                  <a:srgbClr val="F3EDE3"/>
                </a:solidFill>
                <a:latin typeface="Segoe UI" panose="020B0502040204020203" pitchFamily="34" charset="0"/>
              </a:rPr>
              <a:t>Conversamos sobre a sua rotina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F15AD5CA-9F92-D8E1-0280-D14E7E340F4F}"/>
              </a:ext>
            </a:extLst>
          </p:cNvPr>
          <p:cNvSpPr txBox="1"/>
          <p:nvPr/>
        </p:nvSpPr>
        <p:spPr>
          <a:xfrm>
            <a:off x="812800" y="3784600"/>
            <a:ext cx="228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300">
                <a:solidFill>
                  <a:srgbClr val="B8893B"/>
                </a:solidFill>
                <a:latin typeface="Segoe UI Semibold" panose="020B0702040204020203" pitchFamily="34" charset="0"/>
              </a:rPr>
              <a:t>EM SEGUIDA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241CC81B-DAF0-5822-89BC-54C36A4AE5B5}"/>
              </a:ext>
            </a:extLst>
          </p:cNvPr>
          <p:cNvSpPr txBox="1"/>
          <p:nvPr/>
        </p:nvSpPr>
        <p:spPr>
          <a:xfrm>
            <a:off x="3175000" y="3733800"/>
            <a:ext cx="711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900">
                <a:solidFill>
                  <a:srgbClr val="F3EDE3"/>
                </a:solidFill>
                <a:latin typeface="Segoe UI" panose="020B0502040204020203" pitchFamily="34" charset="0"/>
              </a:rPr>
              <a:t>Combinamos dia e horário para acompanhar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3A5A3641-67DE-7589-5364-54A41C587F6A}"/>
              </a:ext>
            </a:extLst>
          </p:cNvPr>
          <p:cNvSpPr txBox="1"/>
          <p:nvPr/>
        </p:nvSpPr>
        <p:spPr>
          <a:xfrm>
            <a:off x="812800" y="4521200"/>
            <a:ext cx="228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300">
                <a:solidFill>
                  <a:srgbClr val="B8893B"/>
                </a:solidFill>
                <a:latin typeface="Segoe UI Semibold" panose="020B0702040204020203" pitchFamily="34" charset="0"/>
              </a:rPr>
              <a:t>NA DATA COMBINADA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D2F0AEFB-2DB3-EDC4-4186-844873AF6D71}"/>
              </a:ext>
            </a:extLst>
          </p:cNvPr>
          <p:cNvSpPr txBox="1"/>
          <p:nvPr/>
        </p:nvSpPr>
        <p:spPr>
          <a:xfrm>
            <a:off x="3175000" y="4470400"/>
            <a:ext cx="711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900">
                <a:solidFill>
                  <a:srgbClr val="F3EDE3"/>
                </a:solidFill>
                <a:latin typeface="Segoe UI" panose="020B0502040204020203" pitchFamily="34" charset="0"/>
              </a:rPr>
              <a:t>Devolutiva com o que encontramos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E7D184C-707E-CDCB-9FEB-1F14EF46F733}"/>
              </a:ext>
            </a:extLst>
          </p:cNvPr>
          <p:cNvSpPr txBox="1"/>
          <p:nvPr/>
        </p:nvSpPr>
        <p:spPr>
          <a:xfrm>
            <a:off x="812800" y="5740400"/>
            <a:ext cx="965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300">
                <a:solidFill>
                  <a:srgbClr val="CFC6B8"/>
                </a:solidFill>
                <a:latin typeface="Segoe UI" panose="020B0502040204020203" pitchFamily="34" charset="0"/>
              </a:rPr>
              <a:t>Arthur  ·  [WhatsApp]  ·  [e-mail]</a:t>
            </a:r>
          </a:p>
        </p:txBody>
      </p:sp>
    </p:spTree>
    <p:extLst>
      <p:ext uri="{BB962C8B-B14F-4D97-AF65-F5344CB8AC3E}">
        <p14:creationId xmlns:p14="http://schemas.microsoft.com/office/powerpoint/2010/main" val="6119356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1743</Words>
  <Application>Microsoft Office PowerPoint</Application>
  <PresentationFormat>Personalizar</PresentationFormat>
  <Paragraphs>229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Georgia</vt:lpstr>
      <vt:lpstr>Segoe UI</vt:lpstr>
      <vt:lpstr>Segoe UI Semibold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Arthur De Castro</dc:creator>
  <cp:lastModifiedBy>Arthur De Castro</cp:lastModifiedBy>
  <cp:revision>1</cp:revision>
  <dcterms:created xsi:type="dcterms:W3CDTF">2026-09-15T18:32:51Z</dcterms:created>
  <dcterms:modified xsi:type="dcterms:W3CDTF">2026-09-15T18:32:51Z</dcterms:modified>
</cp:coreProperties>
</file>